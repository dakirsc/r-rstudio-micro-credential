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9" r:id="rId3"/>
    <p:sldId id="319" r:id="rId4"/>
    <p:sldId id="283" r:id="rId5"/>
    <p:sldId id="286" r:id="rId6"/>
    <p:sldId id="299" r:id="rId7"/>
    <p:sldId id="304" r:id="rId8"/>
    <p:sldId id="321" r:id="rId9"/>
    <p:sldId id="332" r:id="rId10"/>
    <p:sldId id="323" r:id="rId11"/>
    <p:sldId id="325" r:id="rId12"/>
    <p:sldId id="333" r:id="rId13"/>
    <p:sldId id="305" r:id="rId14"/>
    <p:sldId id="335" r:id="rId15"/>
    <p:sldId id="331" r:id="rId16"/>
    <p:sldId id="309" r:id="rId17"/>
    <p:sldId id="329" r:id="rId18"/>
    <p:sldId id="310" r:id="rId19"/>
    <p:sldId id="314" r:id="rId20"/>
    <p:sldId id="311" r:id="rId21"/>
    <p:sldId id="308" r:id="rId22"/>
    <p:sldId id="315" r:id="rId23"/>
    <p:sldId id="316" r:id="rId24"/>
    <p:sldId id="334" r:id="rId25"/>
    <p:sldId id="328" r:id="rId26"/>
    <p:sldId id="327" r:id="rId27"/>
    <p:sldId id="306" r:id="rId28"/>
    <p:sldId id="326"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DCD428-DC3A-4DB2-8B40-DDF1FB7F7EAE}" v="11" dt="2026-10-12T21:39:23.2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0" autoAdjust="0"/>
    <p:restoredTop sz="94660"/>
  </p:normalViewPr>
  <p:slideViewPr>
    <p:cSldViewPr snapToGrid="0">
      <p:cViewPr varScale="1">
        <p:scale>
          <a:sx n="106" d="100"/>
          <a:sy n="106" d="100"/>
        </p:scale>
        <p:origin x="144" y="1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rsch, Dani" userId="8345840a-75f7-416a-8a01-82b52f1f77ee" providerId="ADAL" clId="{8D7F83CD-2FF1-4FA2-9BD4-D19F018B8976}"/>
    <pc:docChg chg="custSel addSld delSld modSld sldOrd">
      <pc:chgData name="Kirsch, Dani" userId="8345840a-75f7-416a-8a01-82b52f1f77ee" providerId="ADAL" clId="{8D7F83CD-2FF1-4FA2-9BD4-D19F018B8976}" dt="2026-10-12T21:39:23.227" v="647"/>
      <pc:docMkLst>
        <pc:docMk/>
      </pc:docMkLst>
      <pc:sldChg chg="modAnim">
        <pc:chgData name="Kirsch, Dani" userId="8345840a-75f7-416a-8a01-82b52f1f77ee" providerId="ADAL" clId="{8D7F83CD-2FF1-4FA2-9BD4-D19F018B8976}" dt="2026-10-12T21:38:12.071" v="641"/>
        <pc:sldMkLst>
          <pc:docMk/>
          <pc:sldMk cId="3959862031" sldId="283"/>
        </pc:sldMkLst>
      </pc:sldChg>
      <pc:sldChg chg="modSp modAnim">
        <pc:chgData name="Kirsch, Dani" userId="8345840a-75f7-416a-8a01-82b52f1f77ee" providerId="ADAL" clId="{8D7F83CD-2FF1-4FA2-9BD4-D19F018B8976}" dt="2026-10-12T21:39:23.227" v="647"/>
        <pc:sldMkLst>
          <pc:docMk/>
          <pc:sldMk cId="449378364" sldId="305"/>
        </pc:sldMkLst>
        <pc:spChg chg="mod">
          <ac:chgData name="Kirsch, Dani" userId="8345840a-75f7-416a-8a01-82b52f1f77ee" providerId="ADAL" clId="{8D7F83CD-2FF1-4FA2-9BD4-D19F018B8976}" dt="2026-10-05T21:06:47.973" v="492" actId="403"/>
          <ac:spMkLst>
            <pc:docMk/>
            <pc:sldMk cId="449378364" sldId="305"/>
            <ac:spMk id="3" creationId="{7B85F6EE-07E6-3B6B-E4A6-83DC72F40905}"/>
          </ac:spMkLst>
        </pc:spChg>
      </pc:sldChg>
      <pc:sldChg chg="modSp mod">
        <pc:chgData name="Kirsch, Dani" userId="8345840a-75f7-416a-8a01-82b52f1f77ee" providerId="ADAL" clId="{8D7F83CD-2FF1-4FA2-9BD4-D19F018B8976}" dt="2026-10-06T18:24:16.918" v="546" actId="27636"/>
        <pc:sldMkLst>
          <pc:docMk/>
          <pc:sldMk cId="2588625290" sldId="306"/>
        </pc:sldMkLst>
        <pc:spChg chg="mod">
          <ac:chgData name="Kirsch, Dani" userId="8345840a-75f7-416a-8a01-82b52f1f77ee" providerId="ADAL" clId="{8D7F83CD-2FF1-4FA2-9BD4-D19F018B8976}" dt="2026-10-06T18:24:16.917" v="545" actId="27636"/>
          <ac:spMkLst>
            <pc:docMk/>
            <pc:sldMk cId="2588625290" sldId="306"/>
            <ac:spMk id="3" creationId="{0D2D50AC-10E5-CF73-FC2F-38CCBF5A822D}"/>
          </ac:spMkLst>
        </pc:spChg>
        <pc:spChg chg="mod">
          <ac:chgData name="Kirsch, Dani" userId="8345840a-75f7-416a-8a01-82b52f1f77ee" providerId="ADAL" clId="{8D7F83CD-2FF1-4FA2-9BD4-D19F018B8976}" dt="2026-10-06T18:24:16.918" v="546" actId="27636"/>
          <ac:spMkLst>
            <pc:docMk/>
            <pc:sldMk cId="2588625290" sldId="306"/>
            <ac:spMk id="4" creationId="{27449521-1DD3-D257-A522-754D9C68B4D2}"/>
          </ac:spMkLst>
        </pc:spChg>
      </pc:sldChg>
      <pc:sldChg chg="modSp ord">
        <pc:chgData name="Kirsch, Dani" userId="8345840a-75f7-416a-8a01-82b52f1f77ee" providerId="ADAL" clId="{8D7F83CD-2FF1-4FA2-9BD4-D19F018B8976}" dt="2026-10-05T21:16:33.405" v="496"/>
        <pc:sldMkLst>
          <pc:docMk/>
          <pc:sldMk cId="1879248273" sldId="308"/>
        </pc:sldMkLst>
        <pc:spChg chg="mod">
          <ac:chgData name="Kirsch, Dani" userId="8345840a-75f7-416a-8a01-82b52f1f77ee" providerId="ADAL" clId="{8D7F83CD-2FF1-4FA2-9BD4-D19F018B8976}" dt="2026-10-05T21:16:33.405" v="496"/>
          <ac:spMkLst>
            <pc:docMk/>
            <pc:sldMk cId="1879248273" sldId="308"/>
            <ac:spMk id="4" creationId="{4C83F288-3374-C897-9E80-D7A5E1C560A3}"/>
          </ac:spMkLst>
        </pc:spChg>
      </pc:sldChg>
      <pc:sldChg chg="addAnim delAnim modAnim">
        <pc:chgData name="Kirsch, Dani" userId="8345840a-75f7-416a-8a01-82b52f1f77ee" providerId="ADAL" clId="{8D7F83CD-2FF1-4FA2-9BD4-D19F018B8976}" dt="2026-10-12T21:37:40.073" v="636"/>
        <pc:sldMkLst>
          <pc:docMk/>
          <pc:sldMk cId="2497530625" sldId="309"/>
        </pc:sldMkLst>
      </pc:sldChg>
      <pc:sldChg chg="modSp addAnim delAnim modAnim">
        <pc:chgData name="Kirsch, Dani" userId="8345840a-75f7-416a-8a01-82b52f1f77ee" providerId="ADAL" clId="{8D7F83CD-2FF1-4FA2-9BD4-D19F018B8976}" dt="2026-10-12T21:37:46.347" v="637"/>
        <pc:sldMkLst>
          <pc:docMk/>
          <pc:sldMk cId="4047832212" sldId="310"/>
        </pc:sldMkLst>
        <pc:spChg chg="mod">
          <ac:chgData name="Kirsch, Dani" userId="8345840a-75f7-416a-8a01-82b52f1f77ee" providerId="ADAL" clId="{8D7F83CD-2FF1-4FA2-9BD4-D19F018B8976}" dt="2026-10-05T20:59:22.989" v="314" actId="14"/>
          <ac:spMkLst>
            <pc:docMk/>
            <pc:sldMk cId="4047832212" sldId="310"/>
            <ac:spMk id="7" creationId="{4EA18F4C-202C-71B9-674E-E583C37E6AC2}"/>
          </ac:spMkLst>
        </pc:spChg>
      </pc:sldChg>
      <pc:sldChg chg="modSp addAnim delAnim">
        <pc:chgData name="Kirsch, Dani" userId="8345840a-75f7-416a-8a01-82b52f1f77ee" providerId="ADAL" clId="{8D7F83CD-2FF1-4FA2-9BD4-D19F018B8976}" dt="2026-10-12T21:37:51.774" v="638"/>
        <pc:sldMkLst>
          <pc:docMk/>
          <pc:sldMk cId="363924650" sldId="311"/>
        </pc:sldMkLst>
        <pc:spChg chg="mod">
          <ac:chgData name="Kirsch, Dani" userId="8345840a-75f7-416a-8a01-82b52f1f77ee" providerId="ADAL" clId="{8D7F83CD-2FF1-4FA2-9BD4-D19F018B8976}" dt="2026-10-05T21:37:33.150" v="507" actId="20577"/>
          <ac:spMkLst>
            <pc:docMk/>
            <pc:sldMk cId="363924650" sldId="311"/>
            <ac:spMk id="6" creationId="{317E0ED6-3F90-E406-F4D7-9B6C28E15F4C}"/>
          </ac:spMkLst>
        </pc:spChg>
      </pc:sldChg>
      <pc:sldChg chg="ord">
        <pc:chgData name="Kirsch, Dani" userId="8345840a-75f7-416a-8a01-82b52f1f77ee" providerId="ADAL" clId="{8D7F83CD-2FF1-4FA2-9BD4-D19F018B8976}" dt="2026-10-05T21:15:07.552" v="495"/>
        <pc:sldMkLst>
          <pc:docMk/>
          <pc:sldMk cId="2482543106" sldId="315"/>
        </pc:sldMkLst>
      </pc:sldChg>
      <pc:sldChg chg="ord">
        <pc:chgData name="Kirsch, Dani" userId="8345840a-75f7-416a-8a01-82b52f1f77ee" providerId="ADAL" clId="{8D7F83CD-2FF1-4FA2-9BD4-D19F018B8976}" dt="2026-10-05T21:15:07.552" v="495"/>
        <pc:sldMkLst>
          <pc:docMk/>
          <pc:sldMk cId="2970400444" sldId="316"/>
        </pc:sldMkLst>
      </pc:sldChg>
      <pc:sldChg chg="modSp modAnim">
        <pc:chgData name="Kirsch, Dani" userId="8345840a-75f7-416a-8a01-82b52f1f77ee" providerId="ADAL" clId="{8D7F83CD-2FF1-4FA2-9BD4-D19F018B8976}" dt="2026-10-12T21:38:38.521" v="644"/>
        <pc:sldMkLst>
          <pc:docMk/>
          <pc:sldMk cId="2423768879" sldId="323"/>
        </pc:sldMkLst>
        <pc:spChg chg="mod">
          <ac:chgData name="Kirsch, Dani" userId="8345840a-75f7-416a-8a01-82b52f1f77ee" providerId="ADAL" clId="{8D7F83CD-2FF1-4FA2-9BD4-D19F018B8976}" dt="2026-10-06T18:09:59.851" v="542" actId="20577"/>
          <ac:spMkLst>
            <pc:docMk/>
            <pc:sldMk cId="2423768879" sldId="323"/>
            <ac:spMk id="3" creationId="{E47CEF08-BC0F-DE21-D162-B1B737C4502F}"/>
          </ac:spMkLst>
        </pc:spChg>
      </pc:sldChg>
      <pc:sldChg chg="addSp modSp mod">
        <pc:chgData name="Kirsch, Dani" userId="8345840a-75f7-416a-8a01-82b52f1f77ee" providerId="ADAL" clId="{8D7F83CD-2FF1-4FA2-9BD4-D19F018B8976}" dt="2026-10-06T18:27:34.104" v="629" actId="1076"/>
        <pc:sldMkLst>
          <pc:docMk/>
          <pc:sldMk cId="3985917270" sldId="326"/>
        </pc:sldMkLst>
        <pc:spChg chg="add mod">
          <ac:chgData name="Kirsch, Dani" userId="8345840a-75f7-416a-8a01-82b52f1f77ee" providerId="ADAL" clId="{8D7F83CD-2FF1-4FA2-9BD4-D19F018B8976}" dt="2026-10-06T18:27:34.104" v="629" actId="1076"/>
          <ac:spMkLst>
            <pc:docMk/>
            <pc:sldMk cId="3985917270" sldId="326"/>
            <ac:spMk id="2" creationId="{D59E4958-EB29-D383-939B-B2FB870AB475}"/>
          </ac:spMkLst>
        </pc:spChg>
        <pc:spChg chg="mod">
          <ac:chgData name="Kirsch, Dani" userId="8345840a-75f7-416a-8a01-82b52f1f77ee" providerId="ADAL" clId="{8D7F83CD-2FF1-4FA2-9BD4-D19F018B8976}" dt="2026-10-06T18:25:31.284" v="613" actId="1076"/>
          <ac:spMkLst>
            <pc:docMk/>
            <pc:sldMk cId="3985917270" sldId="326"/>
            <ac:spMk id="9" creationId="{0230041D-CB57-A0DA-C5F1-DBF7AFF0E245}"/>
          </ac:spMkLst>
        </pc:spChg>
        <pc:picChg chg="mod">
          <ac:chgData name="Kirsch, Dani" userId="8345840a-75f7-416a-8a01-82b52f1f77ee" providerId="ADAL" clId="{8D7F83CD-2FF1-4FA2-9BD4-D19F018B8976}" dt="2026-10-06T18:25:25.972" v="612" actId="1076"/>
          <ac:picMkLst>
            <pc:docMk/>
            <pc:sldMk cId="3985917270" sldId="326"/>
            <ac:picMk id="7" creationId="{6E0B6AAF-A4DF-1A88-48DB-6647EFE3CE2F}"/>
          </ac:picMkLst>
        </pc:picChg>
      </pc:sldChg>
      <pc:sldChg chg="modAnim">
        <pc:chgData name="Kirsch, Dani" userId="8345840a-75f7-416a-8a01-82b52f1f77ee" providerId="ADAL" clId="{8D7F83CD-2FF1-4FA2-9BD4-D19F018B8976}" dt="2026-10-12T21:39:03.633" v="646"/>
        <pc:sldMkLst>
          <pc:docMk/>
          <pc:sldMk cId="3742002552" sldId="327"/>
        </pc:sldMkLst>
      </pc:sldChg>
      <pc:sldChg chg="modSp modAnim">
        <pc:chgData name="Kirsch, Dani" userId="8345840a-75f7-416a-8a01-82b52f1f77ee" providerId="ADAL" clId="{8D7F83CD-2FF1-4FA2-9BD4-D19F018B8976}" dt="2026-10-12T21:38:59.116" v="645"/>
        <pc:sldMkLst>
          <pc:docMk/>
          <pc:sldMk cId="116266040" sldId="328"/>
        </pc:sldMkLst>
        <pc:spChg chg="mod">
          <ac:chgData name="Kirsch, Dani" userId="8345840a-75f7-416a-8a01-82b52f1f77ee" providerId="ADAL" clId="{8D7F83CD-2FF1-4FA2-9BD4-D19F018B8976}" dt="2026-10-05T21:38:45.424" v="527" actId="20577"/>
          <ac:spMkLst>
            <pc:docMk/>
            <pc:sldMk cId="116266040" sldId="328"/>
            <ac:spMk id="3" creationId="{45093338-4479-638F-B0A6-9976D395A5DC}"/>
          </ac:spMkLst>
        </pc:spChg>
      </pc:sldChg>
      <pc:sldChg chg="modSp modAnim">
        <pc:chgData name="Kirsch, Dani" userId="8345840a-75f7-416a-8a01-82b52f1f77ee" providerId="ADAL" clId="{8D7F83CD-2FF1-4FA2-9BD4-D19F018B8976}" dt="2026-10-12T21:38:05.682" v="640"/>
        <pc:sldMkLst>
          <pc:docMk/>
          <pc:sldMk cId="1747998076" sldId="331"/>
        </pc:sldMkLst>
        <pc:spChg chg="mod">
          <ac:chgData name="Kirsch, Dani" userId="8345840a-75f7-416a-8a01-82b52f1f77ee" providerId="ADAL" clId="{8D7F83CD-2FF1-4FA2-9BD4-D19F018B8976}" dt="2026-10-05T21:07:31.739" v="493" actId="20577"/>
          <ac:spMkLst>
            <pc:docMk/>
            <pc:sldMk cId="1747998076" sldId="331"/>
            <ac:spMk id="8" creationId="{118DE414-F164-E70A-C8CA-75FFDD1D358D}"/>
          </ac:spMkLst>
        </pc:spChg>
      </pc:sldChg>
      <pc:sldChg chg="modAnim">
        <pc:chgData name="Kirsch, Dani" userId="8345840a-75f7-416a-8a01-82b52f1f77ee" providerId="ADAL" clId="{8D7F83CD-2FF1-4FA2-9BD4-D19F018B8976}" dt="2026-10-12T21:38:21.174" v="642"/>
        <pc:sldMkLst>
          <pc:docMk/>
          <pc:sldMk cId="2716866826" sldId="332"/>
        </pc:sldMkLst>
      </pc:sldChg>
      <pc:sldChg chg="modAnim modNotesTx">
        <pc:chgData name="Kirsch, Dani" userId="8345840a-75f7-416a-8a01-82b52f1f77ee" providerId="ADAL" clId="{8D7F83CD-2FF1-4FA2-9BD4-D19F018B8976}" dt="2026-10-12T21:06:18.712" v="633" actId="20577"/>
        <pc:sldMkLst>
          <pc:docMk/>
          <pc:sldMk cId="3397731539" sldId="333"/>
        </pc:sldMkLst>
      </pc:sldChg>
      <pc:sldChg chg="add">
        <pc:chgData name="Kirsch, Dani" userId="8345840a-75f7-416a-8a01-82b52f1f77ee" providerId="ADAL" clId="{8D7F83CD-2FF1-4FA2-9BD4-D19F018B8976}" dt="2026-10-05T20:30:57.975" v="0"/>
        <pc:sldMkLst>
          <pc:docMk/>
          <pc:sldMk cId="1931181114" sldId="334"/>
        </pc:sldMkLst>
      </pc:sldChg>
      <pc:sldChg chg="modSp add modAnim">
        <pc:chgData name="Kirsch, Dani" userId="8345840a-75f7-416a-8a01-82b52f1f77ee" providerId="ADAL" clId="{8D7F83CD-2FF1-4FA2-9BD4-D19F018B8976}" dt="2026-10-12T21:38:01.587" v="639"/>
        <pc:sldMkLst>
          <pc:docMk/>
          <pc:sldMk cId="2058600294" sldId="335"/>
        </pc:sldMkLst>
        <pc:spChg chg="mod">
          <ac:chgData name="Kirsch, Dani" userId="8345840a-75f7-416a-8a01-82b52f1f77ee" providerId="ADAL" clId="{8D7F83CD-2FF1-4FA2-9BD4-D19F018B8976}" dt="2026-10-05T21:36:08.315" v="499" actId="6549"/>
          <ac:spMkLst>
            <pc:docMk/>
            <pc:sldMk cId="2058600294" sldId="335"/>
            <ac:spMk id="8" creationId="{074B74F5-A8EC-09D3-2684-A9FD274892E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98A67D-3E71-4A92-A629-1D30A7964360}" type="datetimeFigureOut">
              <a:rPr lang="en-US" smtClean="0"/>
              <a:t>10/12/2026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97594E-3AC5-49B0-A1FF-04852F26048F}" type="slidenum">
              <a:rPr lang="en-US" smtClean="0"/>
              <a:t>‹#›</a:t>
            </a:fld>
            <a:endParaRPr lang="en-US"/>
          </a:p>
        </p:txBody>
      </p:sp>
    </p:spTree>
    <p:extLst>
      <p:ext uri="{BB962C8B-B14F-4D97-AF65-F5344CB8AC3E}">
        <p14:creationId xmlns:p14="http://schemas.microsoft.com/office/powerpoint/2010/main" val="2024039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Jaina and Dani</a:t>
            </a:r>
          </a:p>
        </p:txBody>
      </p:sp>
      <p:sp>
        <p:nvSpPr>
          <p:cNvPr id="4" name="Slide Number Placeholder 3"/>
          <p:cNvSpPr>
            <a:spLocks noGrp="1"/>
          </p:cNvSpPr>
          <p:nvPr>
            <p:ph type="sldNum" sz="quarter" idx="5"/>
          </p:nvPr>
        </p:nvSpPr>
        <p:spPr/>
        <p:txBody>
          <a:bodyPr/>
          <a:lstStyle/>
          <a:p>
            <a:fld id="{DA47069E-C582-4BA9-A286-45DA9495D300}" type="slidenum">
              <a:rPr lang="en-US" smtClean="0"/>
              <a:t>2</a:t>
            </a:fld>
            <a:endParaRPr lang="en-US"/>
          </a:p>
        </p:txBody>
      </p:sp>
    </p:spTree>
    <p:extLst>
      <p:ext uri="{BB962C8B-B14F-4D97-AF65-F5344CB8AC3E}">
        <p14:creationId xmlns:p14="http://schemas.microsoft.com/office/powerpoint/2010/main" val="473491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Dani</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47069E-C582-4BA9-A286-45DA9495D30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533280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a097ec255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a097ec255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Dani</a:t>
            </a:r>
            <a:endParaRPr dirty="0"/>
          </a:p>
        </p:txBody>
      </p:sp>
    </p:spTree>
    <p:extLst>
      <p:ext uri="{BB962C8B-B14F-4D97-AF65-F5344CB8AC3E}">
        <p14:creationId xmlns:p14="http://schemas.microsoft.com/office/powerpoint/2010/main" val="33278254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Dani</a:t>
            </a:r>
            <a:endParaRPr dirty="0"/>
          </a:p>
        </p:txBody>
      </p:sp>
      <p:sp>
        <p:nvSpPr>
          <p:cNvPr id="114" name="Google Shape;11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653226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Dani</a:t>
            </a:r>
            <a:endParaRPr dirty="0"/>
          </a:p>
        </p:txBody>
      </p:sp>
      <p:sp>
        <p:nvSpPr>
          <p:cNvPr id="132" name="Google Shape;13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43328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Dani – tallies count through Git/GitHub workshop in October 2026</a:t>
            </a:r>
          </a:p>
        </p:txBody>
      </p:sp>
      <p:sp>
        <p:nvSpPr>
          <p:cNvPr id="4" name="Slide Number Placeholder 3"/>
          <p:cNvSpPr>
            <a:spLocks noGrp="1"/>
          </p:cNvSpPr>
          <p:nvPr>
            <p:ph type="sldNum" sz="quarter" idx="5"/>
          </p:nvPr>
        </p:nvSpPr>
        <p:spPr/>
        <p:txBody>
          <a:bodyPr/>
          <a:lstStyle/>
          <a:p>
            <a:fld id="{DA47069E-C582-4BA9-A286-45DA9495D300}" type="slidenum">
              <a:rPr lang="en-US" smtClean="0"/>
              <a:t>7</a:t>
            </a:fld>
            <a:endParaRPr lang="en-US"/>
          </a:p>
        </p:txBody>
      </p:sp>
    </p:spTree>
    <p:extLst>
      <p:ext uri="{BB962C8B-B14F-4D97-AF65-F5344CB8AC3E}">
        <p14:creationId xmlns:p14="http://schemas.microsoft.com/office/powerpoint/2010/main" val="27006906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Jaina</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47069E-C582-4BA9-A286-45DA9495D30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536317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Jaina</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47069E-C582-4BA9-A286-45DA9495D30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357256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Jaina</a:t>
            </a:r>
          </a:p>
        </p:txBody>
      </p:sp>
      <p:sp>
        <p:nvSpPr>
          <p:cNvPr id="4" name="Slide Number Placeholder 3"/>
          <p:cNvSpPr>
            <a:spLocks noGrp="1"/>
          </p:cNvSpPr>
          <p:nvPr>
            <p:ph type="sldNum" sz="quarter" idx="5"/>
          </p:nvPr>
        </p:nvSpPr>
        <p:spPr/>
        <p:txBody>
          <a:bodyPr/>
          <a:lstStyle/>
          <a:p>
            <a:fld id="{DA47069E-C582-4BA9-A286-45DA9495D300}" type="slidenum">
              <a:rPr lang="en-US" smtClean="0"/>
              <a:t>10</a:t>
            </a:fld>
            <a:endParaRPr lang="en-US"/>
          </a:p>
        </p:txBody>
      </p:sp>
    </p:spTree>
    <p:extLst>
      <p:ext uri="{BB962C8B-B14F-4D97-AF65-F5344CB8AC3E}">
        <p14:creationId xmlns:p14="http://schemas.microsoft.com/office/powerpoint/2010/main" val="27225203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Dani</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47069E-C582-4BA9-A286-45DA9495D30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236126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Dani</a:t>
            </a:r>
          </a:p>
        </p:txBody>
      </p:sp>
      <p:sp>
        <p:nvSpPr>
          <p:cNvPr id="4" name="Slide Number Placeholder 3"/>
          <p:cNvSpPr>
            <a:spLocks noGrp="1"/>
          </p:cNvSpPr>
          <p:nvPr>
            <p:ph type="sldNum" sz="quarter" idx="5"/>
          </p:nvPr>
        </p:nvSpPr>
        <p:spPr/>
        <p:txBody>
          <a:bodyPr/>
          <a:lstStyle/>
          <a:p>
            <a:fld id="{1C97594E-3AC5-49B0-A1FF-04852F26048F}" type="slidenum">
              <a:rPr lang="en-US" smtClean="0"/>
              <a:t>12</a:t>
            </a:fld>
            <a:endParaRPr lang="en-US"/>
          </a:p>
        </p:txBody>
      </p:sp>
    </p:spTree>
    <p:extLst>
      <p:ext uri="{BB962C8B-B14F-4D97-AF65-F5344CB8AC3E}">
        <p14:creationId xmlns:p14="http://schemas.microsoft.com/office/powerpoint/2010/main" val="5243202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Dani</a:t>
            </a:r>
          </a:p>
        </p:txBody>
      </p:sp>
      <p:sp>
        <p:nvSpPr>
          <p:cNvPr id="4" name="Slide Number Placeholder 3"/>
          <p:cNvSpPr>
            <a:spLocks noGrp="1"/>
          </p:cNvSpPr>
          <p:nvPr>
            <p:ph type="sldNum" sz="quarter" idx="5"/>
          </p:nvPr>
        </p:nvSpPr>
        <p:spPr/>
        <p:txBody>
          <a:bodyPr/>
          <a:lstStyle/>
          <a:p>
            <a:fld id="{DA47069E-C582-4BA9-A286-45DA9495D300}" type="slidenum">
              <a:rPr lang="en-US" smtClean="0"/>
              <a:t>13</a:t>
            </a:fld>
            <a:endParaRPr lang="en-US"/>
          </a:p>
        </p:txBody>
      </p:sp>
    </p:spTree>
    <p:extLst>
      <p:ext uri="{BB962C8B-B14F-4D97-AF65-F5344CB8AC3E}">
        <p14:creationId xmlns:p14="http://schemas.microsoft.com/office/powerpoint/2010/main" val="24173533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BE593-A4A5-38F8-01A2-327C6B0DD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3BC657-B935-519D-4025-5C57AA4FEA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9948ED-B47F-4D7C-0930-0320426D5B9E}"/>
              </a:ext>
            </a:extLst>
          </p:cNvPr>
          <p:cNvSpPr>
            <a:spLocks noGrp="1"/>
          </p:cNvSpPr>
          <p:nvPr>
            <p:ph type="body" idx="1"/>
          </p:nvPr>
        </p:nvSpPr>
        <p:spPr/>
        <p:txBody>
          <a:bodyPr/>
          <a:lstStyle/>
          <a:p>
            <a:r>
              <a:rPr lang="en-US" dirty="0"/>
              <a:t>Jaina</a:t>
            </a:r>
          </a:p>
        </p:txBody>
      </p:sp>
      <p:sp>
        <p:nvSpPr>
          <p:cNvPr id="4" name="Slide Number Placeholder 3">
            <a:extLst>
              <a:ext uri="{FF2B5EF4-FFF2-40B4-BE49-F238E27FC236}">
                <a16:creationId xmlns:a16="http://schemas.microsoft.com/office/drawing/2014/main" id="{6B50C070-FF27-5101-55AD-8D25533815DB}"/>
              </a:ext>
            </a:extLst>
          </p:cNvPr>
          <p:cNvSpPr>
            <a:spLocks noGrp="1"/>
          </p:cNvSpPr>
          <p:nvPr>
            <p:ph type="sldNum" sz="quarter" idx="5"/>
          </p:nvPr>
        </p:nvSpPr>
        <p:spPr/>
        <p:txBody>
          <a:bodyPr/>
          <a:lstStyle/>
          <a:p>
            <a:fld id="{DA47069E-C582-4BA9-A286-45DA9495D300}" type="slidenum">
              <a:rPr lang="en-US" smtClean="0"/>
              <a:t>14</a:t>
            </a:fld>
            <a:endParaRPr lang="en-US"/>
          </a:p>
        </p:txBody>
      </p:sp>
    </p:spTree>
    <p:extLst>
      <p:ext uri="{BB962C8B-B14F-4D97-AF65-F5344CB8AC3E}">
        <p14:creationId xmlns:p14="http://schemas.microsoft.com/office/powerpoint/2010/main" val="30144142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Jaina</a:t>
            </a:r>
          </a:p>
        </p:txBody>
      </p:sp>
      <p:sp>
        <p:nvSpPr>
          <p:cNvPr id="4" name="Slide Number Placeholder 3"/>
          <p:cNvSpPr>
            <a:spLocks noGrp="1"/>
          </p:cNvSpPr>
          <p:nvPr>
            <p:ph type="sldNum" sz="quarter" idx="5"/>
          </p:nvPr>
        </p:nvSpPr>
        <p:spPr/>
        <p:txBody>
          <a:bodyPr/>
          <a:lstStyle/>
          <a:p>
            <a:fld id="{DA47069E-C582-4BA9-A286-45DA9495D300}" type="slidenum">
              <a:rPr lang="en-US" smtClean="0"/>
              <a:t>15</a:t>
            </a:fld>
            <a:endParaRPr lang="en-US"/>
          </a:p>
        </p:txBody>
      </p:sp>
    </p:spTree>
    <p:extLst>
      <p:ext uri="{BB962C8B-B14F-4D97-AF65-F5344CB8AC3E}">
        <p14:creationId xmlns:p14="http://schemas.microsoft.com/office/powerpoint/2010/main" val="31067305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Dani</a:t>
            </a:r>
          </a:p>
        </p:txBody>
      </p:sp>
      <p:sp>
        <p:nvSpPr>
          <p:cNvPr id="4" name="Slide Number Placeholder 3"/>
          <p:cNvSpPr>
            <a:spLocks noGrp="1"/>
          </p:cNvSpPr>
          <p:nvPr>
            <p:ph type="sldNum" sz="quarter" idx="5"/>
          </p:nvPr>
        </p:nvSpPr>
        <p:spPr/>
        <p:txBody>
          <a:bodyPr/>
          <a:lstStyle/>
          <a:p>
            <a:fld id="{DA47069E-C582-4BA9-A286-45DA9495D300}" type="slidenum">
              <a:rPr lang="en-US" smtClean="0"/>
              <a:t>16</a:t>
            </a:fld>
            <a:endParaRPr lang="en-US"/>
          </a:p>
        </p:txBody>
      </p:sp>
    </p:spTree>
    <p:extLst>
      <p:ext uri="{BB962C8B-B14F-4D97-AF65-F5344CB8AC3E}">
        <p14:creationId xmlns:p14="http://schemas.microsoft.com/office/powerpoint/2010/main" val="27550230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5A8C3-4250-E03E-FFD4-C68A18F7D7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D92EBD-4437-3395-A5F8-AAEA34074F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B49BA-61CA-8DDE-9397-0488A434E56E}"/>
              </a:ext>
            </a:extLst>
          </p:cNvPr>
          <p:cNvSpPr>
            <a:spLocks noGrp="1"/>
          </p:cNvSpPr>
          <p:nvPr>
            <p:ph type="body" idx="1"/>
          </p:nvPr>
        </p:nvSpPr>
        <p:spPr/>
        <p:txBody>
          <a:bodyPr/>
          <a:lstStyle/>
          <a:p>
            <a:r>
              <a:rPr lang="en-US" dirty="0"/>
              <a:t>Dani</a:t>
            </a:r>
          </a:p>
        </p:txBody>
      </p:sp>
      <p:sp>
        <p:nvSpPr>
          <p:cNvPr id="4" name="Slide Number Placeholder 3">
            <a:extLst>
              <a:ext uri="{FF2B5EF4-FFF2-40B4-BE49-F238E27FC236}">
                <a16:creationId xmlns:a16="http://schemas.microsoft.com/office/drawing/2014/main" id="{2E2A6469-27A2-53FB-DA12-5FB1F09DB3BC}"/>
              </a:ext>
            </a:extLst>
          </p:cNvPr>
          <p:cNvSpPr>
            <a:spLocks noGrp="1"/>
          </p:cNvSpPr>
          <p:nvPr>
            <p:ph type="sldNum" sz="quarter" idx="5"/>
          </p:nvPr>
        </p:nvSpPr>
        <p:spPr/>
        <p:txBody>
          <a:bodyPr/>
          <a:lstStyle/>
          <a:p>
            <a:fld id="{DA47069E-C582-4BA9-A286-45DA9495D300}" type="slidenum">
              <a:rPr lang="en-US" smtClean="0"/>
              <a:t>17</a:t>
            </a:fld>
            <a:endParaRPr lang="en-US"/>
          </a:p>
        </p:txBody>
      </p:sp>
    </p:spTree>
    <p:extLst>
      <p:ext uri="{BB962C8B-B14F-4D97-AF65-F5344CB8AC3E}">
        <p14:creationId xmlns:p14="http://schemas.microsoft.com/office/powerpoint/2010/main" val="25377567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Jaina</a:t>
            </a:r>
          </a:p>
        </p:txBody>
      </p:sp>
      <p:sp>
        <p:nvSpPr>
          <p:cNvPr id="4" name="Slide Number Placeholder 3"/>
          <p:cNvSpPr>
            <a:spLocks noGrp="1"/>
          </p:cNvSpPr>
          <p:nvPr>
            <p:ph type="sldNum" sz="quarter" idx="5"/>
          </p:nvPr>
        </p:nvSpPr>
        <p:spPr/>
        <p:txBody>
          <a:bodyPr/>
          <a:lstStyle/>
          <a:p>
            <a:fld id="{DA47069E-C582-4BA9-A286-45DA9495D300}" type="slidenum">
              <a:rPr lang="en-US" smtClean="0"/>
              <a:t>18</a:t>
            </a:fld>
            <a:endParaRPr lang="en-US"/>
          </a:p>
        </p:txBody>
      </p:sp>
    </p:spTree>
    <p:extLst>
      <p:ext uri="{BB962C8B-B14F-4D97-AF65-F5344CB8AC3E}">
        <p14:creationId xmlns:p14="http://schemas.microsoft.com/office/powerpoint/2010/main" val="19098049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Jaina</a:t>
            </a:r>
          </a:p>
        </p:txBody>
      </p:sp>
      <p:sp>
        <p:nvSpPr>
          <p:cNvPr id="4" name="Slide Number Placeholder 3"/>
          <p:cNvSpPr>
            <a:spLocks noGrp="1"/>
          </p:cNvSpPr>
          <p:nvPr>
            <p:ph type="sldNum" sz="quarter" idx="5"/>
          </p:nvPr>
        </p:nvSpPr>
        <p:spPr/>
        <p:txBody>
          <a:bodyPr/>
          <a:lstStyle/>
          <a:p>
            <a:fld id="{DA47069E-C582-4BA9-A286-45DA9495D300}" type="slidenum">
              <a:rPr lang="en-US" smtClean="0"/>
              <a:t>19</a:t>
            </a:fld>
            <a:endParaRPr lang="en-US"/>
          </a:p>
        </p:txBody>
      </p:sp>
    </p:spTree>
    <p:extLst>
      <p:ext uri="{BB962C8B-B14F-4D97-AF65-F5344CB8AC3E}">
        <p14:creationId xmlns:p14="http://schemas.microsoft.com/office/powerpoint/2010/main" val="18701934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Dani</a:t>
            </a:r>
          </a:p>
        </p:txBody>
      </p:sp>
      <p:sp>
        <p:nvSpPr>
          <p:cNvPr id="4" name="Slide Number Placeholder 3"/>
          <p:cNvSpPr>
            <a:spLocks noGrp="1"/>
          </p:cNvSpPr>
          <p:nvPr>
            <p:ph type="sldNum" sz="quarter" idx="5"/>
          </p:nvPr>
        </p:nvSpPr>
        <p:spPr/>
        <p:txBody>
          <a:bodyPr/>
          <a:lstStyle/>
          <a:p>
            <a:fld id="{DA47069E-C582-4BA9-A286-45DA9495D300}" type="slidenum">
              <a:rPr lang="en-US" smtClean="0"/>
              <a:t>20</a:t>
            </a:fld>
            <a:endParaRPr lang="en-US"/>
          </a:p>
        </p:txBody>
      </p:sp>
    </p:spTree>
    <p:extLst>
      <p:ext uri="{BB962C8B-B14F-4D97-AF65-F5344CB8AC3E}">
        <p14:creationId xmlns:p14="http://schemas.microsoft.com/office/powerpoint/2010/main" val="15915893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Dani</a:t>
            </a:r>
          </a:p>
        </p:txBody>
      </p:sp>
      <p:sp>
        <p:nvSpPr>
          <p:cNvPr id="4" name="Slide Number Placeholder 3"/>
          <p:cNvSpPr>
            <a:spLocks noGrp="1"/>
          </p:cNvSpPr>
          <p:nvPr>
            <p:ph type="sldNum" sz="quarter" idx="5"/>
          </p:nvPr>
        </p:nvSpPr>
        <p:spPr/>
        <p:txBody>
          <a:bodyPr/>
          <a:lstStyle/>
          <a:p>
            <a:fld id="{DA47069E-C582-4BA9-A286-45DA9495D300}" type="slidenum">
              <a:rPr lang="en-US" smtClean="0"/>
              <a:t>21</a:t>
            </a:fld>
            <a:endParaRPr lang="en-US"/>
          </a:p>
        </p:txBody>
      </p:sp>
    </p:spTree>
    <p:extLst>
      <p:ext uri="{BB962C8B-B14F-4D97-AF65-F5344CB8AC3E}">
        <p14:creationId xmlns:p14="http://schemas.microsoft.com/office/powerpoint/2010/main" val="11981842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Jaina</a:t>
            </a:r>
          </a:p>
        </p:txBody>
      </p:sp>
      <p:sp>
        <p:nvSpPr>
          <p:cNvPr id="4" name="Slide Number Placeholder 3"/>
          <p:cNvSpPr>
            <a:spLocks noGrp="1"/>
          </p:cNvSpPr>
          <p:nvPr>
            <p:ph type="sldNum" sz="quarter" idx="5"/>
          </p:nvPr>
        </p:nvSpPr>
        <p:spPr/>
        <p:txBody>
          <a:bodyPr/>
          <a:lstStyle/>
          <a:p>
            <a:fld id="{DA47069E-C582-4BA9-A286-45DA9495D300}" type="slidenum">
              <a:rPr lang="en-US" smtClean="0"/>
              <a:t>22</a:t>
            </a:fld>
            <a:endParaRPr lang="en-US"/>
          </a:p>
        </p:txBody>
      </p:sp>
    </p:spTree>
    <p:extLst>
      <p:ext uri="{BB962C8B-B14F-4D97-AF65-F5344CB8AC3E}">
        <p14:creationId xmlns:p14="http://schemas.microsoft.com/office/powerpoint/2010/main" val="2673659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Dani</a:t>
            </a:r>
          </a:p>
        </p:txBody>
      </p:sp>
      <p:sp>
        <p:nvSpPr>
          <p:cNvPr id="4" name="Slide Number Placeholder 3"/>
          <p:cNvSpPr>
            <a:spLocks noGrp="1"/>
          </p:cNvSpPr>
          <p:nvPr>
            <p:ph type="sldNum" sz="quarter" idx="5"/>
          </p:nvPr>
        </p:nvSpPr>
        <p:spPr/>
        <p:txBody>
          <a:bodyPr/>
          <a:lstStyle/>
          <a:p>
            <a:fld id="{DA47069E-C582-4BA9-A286-45DA9495D300}" type="slidenum">
              <a:rPr lang="en-US" smtClean="0"/>
              <a:t>23</a:t>
            </a:fld>
            <a:endParaRPr lang="en-US"/>
          </a:p>
        </p:txBody>
      </p:sp>
    </p:spTree>
    <p:extLst>
      <p:ext uri="{BB962C8B-B14F-4D97-AF65-F5344CB8AC3E}">
        <p14:creationId xmlns:p14="http://schemas.microsoft.com/office/powerpoint/2010/main" val="17079954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27AD5-7E1E-BF10-C779-FC9AA68382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0716C8-6226-3554-EE37-ECA5B01023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3B77A6-B38E-55D6-2B0A-477B3D3C86FF}"/>
              </a:ext>
            </a:extLst>
          </p:cNvPr>
          <p:cNvSpPr>
            <a:spLocks noGrp="1"/>
          </p:cNvSpPr>
          <p:nvPr>
            <p:ph type="body" idx="1"/>
          </p:nvPr>
        </p:nvSpPr>
        <p:spPr/>
        <p:txBody>
          <a:bodyPr/>
          <a:lstStyle/>
          <a:p>
            <a:r>
              <a:rPr lang="en-US" dirty="0"/>
              <a:t>Dani</a:t>
            </a:r>
          </a:p>
        </p:txBody>
      </p:sp>
      <p:sp>
        <p:nvSpPr>
          <p:cNvPr id="4" name="Slide Number Placeholder 3">
            <a:extLst>
              <a:ext uri="{FF2B5EF4-FFF2-40B4-BE49-F238E27FC236}">
                <a16:creationId xmlns:a16="http://schemas.microsoft.com/office/drawing/2014/main" id="{85FCD88D-830E-0D29-62EF-B4BA3F89EB1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47069E-C582-4BA9-A286-45DA9495D30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547600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Dani</a:t>
            </a:r>
          </a:p>
        </p:txBody>
      </p:sp>
      <p:sp>
        <p:nvSpPr>
          <p:cNvPr id="4" name="Slide Number Placeholder 3"/>
          <p:cNvSpPr>
            <a:spLocks noGrp="1"/>
          </p:cNvSpPr>
          <p:nvPr>
            <p:ph type="sldNum" sz="quarter" idx="5"/>
          </p:nvPr>
        </p:nvSpPr>
        <p:spPr/>
        <p:txBody>
          <a:bodyPr/>
          <a:lstStyle/>
          <a:p>
            <a:fld id="{DA47069E-C582-4BA9-A286-45DA9495D300}" type="slidenum">
              <a:rPr lang="en-US" smtClean="0"/>
              <a:t>25</a:t>
            </a:fld>
            <a:endParaRPr lang="en-US"/>
          </a:p>
        </p:txBody>
      </p:sp>
    </p:spTree>
    <p:extLst>
      <p:ext uri="{BB962C8B-B14F-4D97-AF65-F5344CB8AC3E}">
        <p14:creationId xmlns:p14="http://schemas.microsoft.com/office/powerpoint/2010/main" val="31713806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Jaina</a:t>
            </a:r>
          </a:p>
        </p:txBody>
      </p:sp>
      <p:sp>
        <p:nvSpPr>
          <p:cNvPr id="4" name="Slide Number Placeholder 3"/>
          <p:cNvSpPr>
            <a:spLocks noGrp="1"/>
          </p:cNvSpPr>
          <p:nvPr>
            <p:ph type="sldNum" sz="quarter" idx="5"/>
          </p:nvPr>
        </p:nvSpPr>
        <p:spPr/>
        <p:txBody>
          <a:bodyPr/>
          <a:lstStyle/>
          <a:p>
            <a:fld id="{DA47069E-C582-4BA9-A286-45DA9495D300}" type="slidenum">
              <a:rPr lang="en-US" smtClean="0"/>
              <a:t>26</a:t>
            </a:fld>
            <a:endParaRPr lang="en-US"/>
          </a:p>
        </p:txBody>
      </p:sp>
    </p:spTree>
    <p:extLst>
      <p:ext uri="{BB962C8B-B14F-4D97-AF65-F5344CB8AC3E}">
        <p14:creationId xmlns:p14="http://schemas.microsoft.com/office/powerpoint/2010/main" val="7560658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Jaina and Dani</a:t>
            </a:r>
          </a:p>
        </p:txBody>
      </p:sp>
      <p:sp>
        <p:nvSpPr>
          <p:cNvPr id="4" name="Slide Number Placeholder 3"/>
          <p:cNvSpPr>
            <a:spLocks noGrp="1"/>
          </p:cNvSpPr>
          <p:nvPr>
            <p:ph type="sldNum" sz="quarter" idx="5"/>
          </p:nvPr>
        </p:nvSpPr>
        <p:spPr/>
        <p:txBody>
          <a:bodyPr/>
          <a:lstStyle/>
          <a:p>
            <a:fld id="{DA47069E-C582-4BA9-A286-45DA9495D300}" type="slidenum">
              <a:rPr lang="en-US" smtClean="0"/>
              <a:t>27</a:t>
            </a:fld>
            <a:endParaRPr lang="en-US"/>
          </a:p>
        </p:txBody>
      </p:sp>
    </p:spTree>
    <p:extLst>
      <p:ext uri="{BB962C8B-B14F-4D97-AF65-F5344CB8AC3E}">
        <p14:creationId xmlns:p14="http://schemas.microsoft.com/office/powerpoint/2010/main" val="1510144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Dani</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A47069E-C582-4BA9-A286-45DA9495D300}"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777095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5A040-CDD2-40DE-FAC1-E7ADCE49C7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6C7E56-8F70-77BE-4931-795FAF73EA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975100-989E-1999-3FEA-3190184CBD0E}"/>
              </a:ext>
            </a:extLst>
          </p:cNvPr>
          <p:cNvSpPr>
            <a:spLocks noGrp="1"/>
          </p:cNvSpPr>
          <p:nvPr>
            <p:ph type="dt" sz="half" idx="10"/>
          </p:nvPr>
        </p:nvSpPr>
        <p:spPr/>
        <p:txBody>
          <a:bodyPr/>
          <a:lstStyle/>
          <a:p>
            <a:fld id="{AA32C204-FC70-4BFF-ADE3-359380038BA1}" type="datetimeFigureOut">
              <a:rPr lang="en-US" smtClean="0"/>
              <a:t>10/12/2026</a:t>
            </a:fld>
            <a:endParaRPr lang="en-US"/>
          </a:p>
        </p:txBody>
      </p:sp>
      <p:sp>
        <p:nvSpPr>
          <p:cNvPr id="5" name="Footer Placeholder 4">
            <a:extLst>
              <a:ext uri="{FF2B5EF4-FFF2-40B4-BE49-F238E27FC236}">
                <a16:creationId xmlns:a16="http://schemas.microsoft.com/office/drawing/2014/main" id="{BD1C53D3-989C-6183-BA1B-7423793AFA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DAFD25-CC34-C2FE-7735-A5D55D6986A6}"/>
              </a:ext>
            </a:extLst>
          </p:cNvPr>
          <p:cNvSpPr>
            <a:spLocks noGrp="1"/>
          </p:cNvSpPr>
          <p:nvPr>
            <p:ph type="sldNum" sz="quarter" idx="12"/>
          </p:nvPr>
        </p:nvSpPr>
        <p:spPr/>
        <p:txBody>
          <a:bodyPr/>
          <a:lstStyle/>
          <a:p>
            <a:fld id="{F688BD24-5527-4FB3-A432-C2BE6E925764}" type="slidenum">
              <a:rPr lang="en-US" smtClean="0"/>
              <a:t>‹#›</a:t>
            </a:fld>
            <a:endParaRPr lang="en-US"/>
          </a:p>
        </p:txBody>
      </p:sp>
    </p:spTree>
    <p:extLst>
      <p:ext uri="{BB962C8B-B14F-4D97-AF65-F5344CB8AC3E}">
        <p14:creationId xmlns:p14="http://schemas.microsoft.com/office/powerpoint/2010/main" val="2846931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11913-3CDF-B267-236A-74B3749D9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DB51A6-FF55-7A5E-33A9-B57857C58BC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3253A6-2475-6799-2D70-F0229FDD8971}"/>
              </a:ext>
            </a:extLst>
          </p:cNvPr>
          <p:cNvSpPr>
            <a:spLocks noGrp="1"/>
          </p:cNvSpPr>
          <p:nvPr>
            <p:ph type="dt" sz="half" idx="10"/>
          </p:nvPr>
        </p:nvSpPr>
        <p:spPr/>
        <p:txBody>
          <a:bodyPr/>
          <a:lstStyle/>
          <a:p>
            <a:fld id="{AA32C204-FC70-4BFF-ADE3-359380038BA1}" type="datetimeFigureOut">
              <a:rPr lang="en-US" smtClean="0"/>
              <a:t>10/12/2026</a:t>
            </a:fld>
            <a:endParaRPr lang="en-US"/>
          </a:p>
        </p:txBody>
      </p:sp>
      <p:sp>
        <p:nvSpPr>
          <p:cNvPr id="5" name="Footer Placeholder 4">
            <a:extLst>
              <a:ext uri="{FF2B5EF4-FFF2-40B4-BE49-F238E27FC236}">
                <a16:creationId xmlns:a16="http://schemas.microsoft.com/office/drawing/2014/main" id="{4EC61C77-E965-CEF5-15C7-85BACA4317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109242-952A-BAED-2EE7-987426E9087C}"/>
              </a:ext>
            </a:extLst>
          </p:cNvPr>
          <p:cNvSpPr>
            <a:spLocks noGrp="1"/>
          </p:cNvSpPr>
          <p:nvPr>
            <p:ph type="sldNum" sz="quarter" idx="12"/>
          </p:nvPr>
        </p:nvSpPr>
        <p:spPr/>
        <p:txBody>
          <a:bodyPr/>
          <a:lstStyle/>
          <a:p>
            <a:fld id="{F688BD24-5527-4FB3-A432-C2BE6E925764}" type="slidenum">
              <a:rPr lang="en-US" smtClean="0"/>
              <a:t>‹#›</a:t>
            </a:fld>
            <a:endParaRPr lang="en-US"/>
          </a:p>
        </p:txBody>
      </p:sp>
    </p:spTree>
    <p:extLst>
      <p:ext uri="{BB962C8B-B14F-4D97-AF65-F5344CB8AC3E}">
        <p14:creationId xmlns:p14="http://schemas.microsoft.com/office/powerpoint/2010/main" val="23643616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A0445-9986-B5F1-7D61-FB3D44DCD1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30B682F-B272-3832-CAB8-69D8FCB813E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F179B9-203E-A2A0-EFF2-1572A7D1836B}"/>
              </a:ext>
            </a:extLst>
          </p:cNvPr>
          <p:cNvSpPr>
            <a:spLocks noGrp="1"/>
          </p:cNvSpPr>
          <p:nvPr>
            <p:ph type="dt" sz="half" idx="10"/>
          </p:nvPr>
        </p:nvSpPr>
        <p:spPr/>
        <p:txBody>
          <a:bodyPr/>
          <a:lstStyle/>
          <a:p>
            <a:fld id="{AA32C204-FC70-4BFF-ADE3-359380038BA1}" type="datetimeFigureOut">
              <a:rPr lang="en-US" smtClean="0"/>
              <a:t>10/12/2026</a:t>
            </a:fld>
            <a:endParaRPr lang="en-US"/>
          </a:p>
        </p:txBody>
      </p:sp>
      <p:sp>
        <p:nvSpPr>
          <p:cNvPr id="5" name="Footer Placeholder 4">
            <a:extLst>
              <a:ext uri="{FF2B5EF4-FFF2-40B4-BE49-F238E27FC236}">
                <a16:creationId xmlns:a16="http://schemas.microsoft.com/office/drawing/2014/main" id="{81941017-044F-D66C-E348-68409911CE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B71017-E4F1-C4A5-B3A8-607870E91905}"/>
              </a:ext>
            </a:extLst>
          </p:cNvPr>
          <p:cNvSpPr>
            <a:spLocks noGrp="1"/>
          </p:cNvSpPr>
          <p:nvPr>
            <p:ph type="sldNum" sz="quarter" idx="12"/>
          </p:nvPr>
        </p:nvSpPr>
        <p:spPr/>
        <p:txBody>
          <a:bodyPr/>
          <a:lstStyle/>
          <a:p>
            <a:fld id="{F688BD24-5527-4FB3-A432-C2BE6E925764}" type="slidenum">
              <a:rPr lang="en-US" smtClean="0"/>
              <a:t>‹#›</a:t>
            </a:fld>
            <a:endParaRPr lang="en-US"/>
          </a:p>
        </p:txBody>
      </p:sp>
    </p:spTree>
    <p:extLst>
      <p:ext uri="{BB962C8B-B14F-4D97-AF65-F5344CB8AC3E}">
        <p14:creationId xmlns:p14="http://schemas.microsoft.com/office/powerpoint/2010/main" val="791685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0BA98-CF6A-9ABD-3716-AB1489EF4E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F7CED8-C6A3-0CB1-4821-19916CCB559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9A69CA-939F-111A-2C55-49349F8A95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585FC0A-E748-026C-884E-2263E0A2A4F0}"/>
              </a:ext>
            </a:extLst>
          </p:cNvPr>
          <p:cNvSpPr>
            <a:spLocks noGrp="1"/>
          </p:cNvSpPr>
          <p:nvPr>
            <p:ph type="dt" sz="half" idx="10"/>
          </p:nvPr>
        </p:nvSpPr>
        <p:spPr/>
        <p:txBody>
          <a:bodyPr/>
          <a:lstStyle/>
          <a:p>
            <a:fld id="{AA32C204-FC70-4BFF-ADE3-359380038BA1}" type="datetimeFigureOut">
              <a:rPr lang="en-US" smtClean="0"/>
              <a:t>10/12/2026</a:t>
            </a:fld>
            <a:endParaRPr lang="en-US"/>
          </a:p>
        </p:txBody>
      </p:sp>
      <p:sp>
        <p:nvSpPr>
          <p:cNvPr id="6" name="Footer Placeholder 5">
            <a:extLst>
              <a:ext uri="{FF2B5EF4-FFF2-40B4-BE49-F238E27FC236}">
                <a16:creationId xmlns:a16="http://schemas.microsoft.com/office/drawing/2014/main" id="{62898DD5-409E-BFB1-E4BA-E9EDC16C75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6D0487-A2B3-87CF-47A1-D76DE2F03F9F}"/>
              </a:ext>
            </a:extLst>
          </p:cNvPr>
          <p:cNvSpPr>
            <a:spLocks noGrp="1"/>
          </p:cNvSpPr>
          <p:nvPr>
            <p:ph type="sldNum" sz="quarter" idx="12"/>
          </p:nvPr>
        </p:nvSpPr>
        <p:spPr/>
        <p:txBody>
          <a:bodyPr/>
          <a:lstStyle/>
          <a:p>
            <a:fld id="{F688BD24-5527-4FB3-A432-C2BE6E925764}" type="slidenum">
              <a:rPr lang="en-US" smtClean="0"/>
              <a:t>‹#›</a:t>
            </a:fld>
            <a:endParaRPr lang="en-US"/>
          </a:p>
        </p:txBody>
      </p:sp>
    </p:spTree>
    <p:extLst>
      <p:ext uri="{BB962C8B-B14F-4D97-AF65-F5344CB8AC3E}">
        <p14:creationId xmlns:p14="http://schemas.microsoft.com/office/powerpoint/2010/main" val="849069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F160A-CF88-D99B-0E8E-A963EC09A7C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8087BCE-D3A8-D8D1-A2EC-AD5B9A3C83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026A88-14BD-A44C-8F44-E3FD3A5042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35505E-BF7D-2BAA-11FE-0D0D1C6447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B33CB8-6DD1-5FD3-8C15-32EE440B284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E54C92-4084-8329-DADB-11158A6DCC29}"/>
              </a:ext>
            </a:extLst>
          </p:cNvPr>
          <p:cNvSpPr>
            <a:spLocks noGrp="1"/>
          </p:cNvSpPr>
          <p:nvPr>
            <p:ph type="dt" sz="half" idx="10"/>
          </p:nvPr>
        </p:nvSpPr>
        <p:spPr/>
        <p:txBody>
          <a:bodyPr/>
          <a:lstStyle/>
          <a:p>
            <a:fld id="{AA32C204-FC70-4BFF-ADE3-359380038BA1}" type="datetimeFigureOut">
              <a:rPr lang="en-US" smtClean="0"/>
              <a:t>10/12/2026</a:t>
            </a:fld>
            <a:endParaRPr lang="en-US"/>
          </a:p>
        </p:txBody>
      </p:sp>
      <p:sp>
        <p:nvSpPr>
          <p:cNvPr id="8" name="Footer Placeholder 7">
            <a:extLst>
              <a:ext uri="{FF2B5EF4-FFF2-40B4-BE49-F238E27FC236}">
                <a16:creationId xmlns:a16="http://schemas.microsoft.com/office/drawing/2014/main" id="{4D83F651-F662-46E8-0D02-0223EE7627A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1C41128-C8E3-AC1F-3650-AC7D136DA63F}"/>
              </a:ext>
            </a:extLst>
          </p:cNvPr>
          <p:cNvSpPr>
            <a:spLocks noGrp="1"/>
          </p:cNvSpPr>
          <p:nvPr>
            <p:ph type="sldNum" sz="quarter" idx="12"/>
          </p:nvPr>
        </p:nvSpPr>
        <p:spPr/>
        <p:txBody>
          <a:bodyPr/>
          <a:lstStyle/>
          <a:p>
            <a:fld id="{F688BD24-5527-4FB3-A432-C2BE6E925764}" type="slidenum">
              <a:rPr lang="en-US" smtClean="0"/>
              <a:t>‹#›</a:t>
            </a:fld>
            <a:endParaRPr lang="en-US"/>
          </a:p>
        </p:txBody>
      </p:sp>
    </p:spTree>
    <p:extLst>
      <p:ext uri="{BB962C8B-B14F-4D97-AF65-F5344CB8AC3E}">
        <p14:creationId xmlns:p14="http://schemas.microsoft.com/office/powerpoint/2010/main" val="2178213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F6B12-E429-9F21-72D2-2E599434350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3B0D315-C8ED-A242-490C-4D5BF2600A64}"/>
              </a:ext>
            </a:extLst>
          </p:cNvPr>
          <p:cNvSpPr>
            <a:spLocks noGrp="1"/>
          </p:cNvSpPr>
          <p:nvPr>
            <p:ph type="dt" sz="half" idx="10"/>
          </p:nvPr>
        </p:nvSpPr>
        <p:spPr/>
        <p:txBody>
          <a:bodyPr/>
          <a:lstStyle/>
          <a:p>
            <a:fld id="{AA32C204-FC70-4BFF-ADE3-359380038BA1}" type="datetimeFigureOut">
              <a:rPr lang="en-US" smtClean="0"/>
              <a:t>10/12/2026</a:t>
            </a:fld>
            <a:endParaRPr lang="en-US"/>
          </a:p>
        </p:txBody>
      </p:sp>
      <p:sp>
        <p:nvSpPr>
          <p:cNvPr id="4" name="Footer Placeholder 3">
            <a:extLst>
              <a:ext uri="{FF2B5EF4-FFF2-40B4-BE49-F238E27FC236}">
                <a16:creationId xmlns:a16="http://schemas.microsoft.com/office/drawing/2014/main" id="{0CA3E87E-77D1-0B93-E728-580C002E3F8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D0B3FA3-E9C3-507E-A402-5BD6F58A94FD}"/>
              </a:ext>
            </a:extLst>
          </p:cNvPr>
          <p:cNvSpPr>
            <a:spLocks noGrp="1"/>
          </p:cNvSpPr>
          <p:nvPr>
            <p:ph type="sldNum" sz="quarter" idx="12"/>
          </p:nvPr>
        </p:nvSpPr>
        <p:spPr/>
        <p:txBody>
          <a:bodyPr/>
          <a:lstStyle/>
          <a:p>
            <a:fld id="{F688BD24-5527-4FB3-A432-C2BE6E925764}" type="slidenum">
              <a:rPr lang="en-US" smtClean="0"/>
              <a:t>‹#›</a:t>
            </a:fld>
            <a:endParaRPr lang="en-US"/>
          </a:p>
        </p:txBody>
      </p:sp>
    </p:spTree>
    <p:extLst>
      <p:ext uri="{BB962C8B-B14F-4D97-AF65-F5344CB8AC3E}">
        <p14:creationId xmlns:p14="http://schemas.microsoft.com/office/powerpoint/2010/main" val="358357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CC5B94-FF9D-8577-2890-B81BFD6B2745}"/>
              </a:ext>
            </a:extLst>
          </p:cNvPr>
          <p:cNvSpPr>
            <a:spLocks noGrp="1"/>
          </p:cNvSpPr>
          <p:nvPr>
            <p:ph type="dt" sz="half" idx="10"/>
          </p:nvPr>
        </p:nvSpPr>
        <p:spPr/>
        <p:txBody>
          <a:bodyPr/>
          <a:lstStyle/>
          <a:p>
            <a:fld id="{AA32C204-FC70-4BFF-ADE3-359380038BA1}" type="datetimeFigureOut">
              <a:rPr lang="en-US" smtClean="0"/>
              <a:t>10/12/2026</a:t>
            </a:fld>
            <a:endParaRPr lang="en-US"/>
          </a:p>
        </p:txBody>
      </p:sp>
      <p:sp>
        <p:nvSpPr>
          <p:cNvPr id="3" name="Footer Placeholder 2">
            <a:extLst>
              <a:ext uri="{FF2B5EF4-FFF2-40B4-BE49-F238E27FC236}">
                <a16:creationId xmlns:a16="http://schemas.microsoft.com/office/drawing/2014/main" id="{D8B28939-C279-D387-D978-FFD5192938F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011905-CB58-115C-4FBD-F4F6D2BCF4E2}"/>
              </a:ext>
            </a:extLst>
          </p:cNvPr>
          <p:cNvSpPr>
            <a:spLocks noGrp="1"/>
          </p:cNvSpPr>
          <p:nvPr>
            <p:ph type="sldNum" sz="quarter" idx="12"/>
          </p:nvPr>
        </p:nvSpPr>
        <p:spPr/>
        <p:txBody>
          <a:bodyPr/>
          <a:lstStyle/>
          <a:p>
            <a:fld id="{F688BD24-5527-4FB3-A432-C2BE6E925764}" type="slidenum">
              <a:rPr lang="en-US" smtClean="0"/>
              <a:t>‹#›</a:t>
            </a:fld>
            <a:endParaRPr lang="en-US"/>
          </a:p>
        </p:txBody>
      </p:sp>
    </p:spTree>
    <p:extLst>
      <p:ext uri="{BB962C8B-B14F-4D97-AF65-F5344CB8AC3E}">
        <p14:creationId xmlns:p14="http://schemas.microsoft.com/office/powerpoint/2010/main" val="3544434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4435B-C339-29D9-B8BD-A96151BE70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F03D8BE-DD5C-C865-587E-8E8C170B31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D344DC0-AD70-3630-03DB-86049D492B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B989FF-9B48-BAAD-E47D-CB051D9AF6F5}"/>
              </a:ext>
            </a:extLst>
          </p:cNvPr>
          <p:cNvSpPr>
            <a:spLocks noGrp="1"/>
          </p:cNvSpPr>
          <p:nvPr>
            <p:ph type="dt" sz="half" idx="10"/>
          </p:nvPr>
        </p:nvSpPr>
        <p:spPr/>
        <p:txBody>
          <a:bodyPr/>
          <a:lstStyle/>
          <a:p>
            <a:fld id="{AA32C204-FC70-4BFF-ADE3-359380038BA1}" type="datetimeFigureOut">
              <a:rPr lang="en-US" smtClean="0"/>
              <a:t>10/12/2026</a:t>
            </a:fld>
            <a:endParaRPr lang="en-US"/>
          </a:p>
        </p:txBody>
      </p:sp>
      <p:sp>
        <p:nvSpPr>
          <p:cNvPr id="6" name="Footer Placeholder 5">
            <a:extLst>
              <a:ext uri="{FF2B5EF4-FFF2-40B4-BE49-F238E27FC236}">
                <a16:creationId xmlns:a16="http://schemas.microsoft.com/office/drawing/2014/main" id="{04BD214E-6542-48C9-8C97-1B460C0828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B1AC4C-F783-7252-36CB-627B3857875C}"/>
              </a:ext>
            </a:extLst>
          </p:cNvPr>
          <p:cNvSpPr>
            <a:spLocks noGrp="1"/>
          </p:cNvSpPr>
          <p:nvPr>
            <p:ph type="sldNum" sz="quarter" idx="12"/>
          </p:nvPr>
        </p:nvSpPr>
        <p:spPr/>
        <p:txBody>
          <a:bodyPr/>
          <a:lstStyle/>
          <a:p>
            <a:fld id="{F688BD24-5527-4FB3-A432-C2BE6E925764}" type="slidenum">
              <a:rPr lang="en-US" smtClean="0"/>
              <a:t>‹#›</a:t>
            </a:fld>
            <a:endParaRPr lang="en-US"/>
          </a:p>
        </p:txBody>
      </p:sp>
    </p:spTree>
    <p:extLst>
      <p:ext uri="{BB962C8B-B14F-4D97-AF65-F5344CB8AC3E}">
        <p14:creationId xmlns:p14="http://schemas.microsoft.com/office/powerpoint/2010/main" val="1173133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129A5-EA95-C6E8-2683-4AD4096875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4A465A-35DD-A0B8-9AFA-7572D5B72D5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3465A6D-A917-5571-05ED-3EA356E8DE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38B0C1-0209-F22F-596B-7F2D2968BB61}"/>
              </a:ext>
            </a:extLst>
          </p:cNvPr>
          <p:cNvSpPr>
            <a:spLocks noGrp="1"/>
          </p:cNvSpPr>
          <p:nvPr>
            <p:ph type="dt" sz="half" idx="10"/>
          </p:nvPr>
        </p:nvSpPr>
        <p:spPr/>
        <p:txBody>
          <a:bodyPr/>
          <a:lstStyle/>
          <a:p>
            <a:fld id="{AA32C204-FC70-4BFF-ADE3-359380038BA1}" type="datetimeFigureOut">
              <a:rPr lang="en-US" smtClean="0"/>
              <a:t>10/12/2026</a:t>
            </a:fld>
            <a:endParaRPr lang="en-US"/>
          </a:p>
        </p:txBody>
      </p:sp>
      <p:sp>
        <p:nvSpPr>
          <p:cNvPr id="6" name="Footer Placeholder 5">
            <a:extLst>
              <a:ext uri="{FF2B5EF4-FFF2-40B4-BE49-F238E27FC236}">
                <a16:creationId xmlns:a16="http://schemas.microsoft.com/office/drawing/2014/main" id="{59A19453-49AD-F97B-5F79-42CBF70B7D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72D3BC-D1AB-1766-5BD9-14948DCF2722}"/>
              </a:ext>
            </a:extLst>
          </p:cNvPr>
          <p:cNvSpPr>
            <a:spLocks noGrp="1"/>
          </p:cNvSpPr>
          <p:nvPr>
            <p:ph type="sldNum" sz="quarter" idx="12"/>
          </p:nvPr>
        </p:nvSpPr>
        <p:spPr/>
        <p:txBody>
          <a:bodyPr/>
          <a:lstStyle/>
          <a:p>
            <a:fld id="{F688BD24-5527-4FB3-A432-C2BE6E925764}" type="slidenum">
              <a:rPr lang="en-US" smtClean="0"/>
              <a:t>‹#›</a:t>
            </a:fld>
            <a:endParaRPr lang="en-US"/>
          </a:p>
        </p:txBody>
      </p:sp>
    </p:spTree>
    <p:extLst>
      <p:ext uri="{BB962C8B-B14F-4D97-AF65-F5344CB8AC3E}">
        <p14:creationId xmlns:p14="http://schemas.microsoft.com/office/powerpoint/2010/main" val="2877923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A30C9-17EB-3877-9E3D-05E29B5E39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30EE268-4747-7A36-0428-E0BF4E28AE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3DBAF9-5544-B8D6-221E-BE741629098F}"/>
              </a:ext>
            </a:extLst>
          </p:cNvPr>
          <p:cNvSpPr>
            <a:spLocks noGrp="1"/>
          </p:cNvSpPr>
          <p:nvPr>
            <p:ph type="dt" sz="half" idx="10"/>
          </p:nvPr>
        </p:nvSpPr>
        <p:spPr/>
        <p:txBody>
          <a:bodyPr/>
          <a:lstStyle/>
          <a:p>
            <a:fld id="{AA32C204-FC70-4BFF-ADE3-359380038BA1}" type="datetimeFigureOut">
              <a:rPr lang="en-US" smtClean="0"/>
              <a:t>10/12/2026</a:t>
            </a:fld>
            <a:endParaRPr lang="en-US"/>
          </a:p>
        </p:txBody>
      </p:sp>
      <p:sp>
        <p:nvSpPr>
          <p:cNvPr id="5" name="Footer Placeholder 4">
            <a:extLst>
              <a:ext uri="{FF2B5EF4-FFF2-40B4-BE49-F238E27FC236}">
                <a16:creationId xmlns:a16="http://schemas.microsoft.com/office/drawing/2014/main" id="{8B9CD967-6780-3253-3CA3-5B7580D9A5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EB2AB9-CEC7-C86C-6428-2C0C4F534C1C}"/>
              </a:ext>
            </a:extLst>
          </p:cNvPr>
          <p:cNvSpPr>
            <a:spLocks noGrp="1"/>
          </p:cNvSpPr>
          <p:nvPr>
            <p:ph type="sldNum" sz="quarter" idx="12"/>
          </p:nvPr>
        </p:nvSpPr>
        <p:spPr/>
        <p:txBody>
          <a:bodyPr/>
          <a:lstStyle/>
          <a:p>
            <a:fld id="{F688BD24-5527-4FB3-A432-C2BE6E925764}" type="slidenum">
              <a:rPr lang="en-US" smtClean="0"/>
              <a:t>‹#›</a:t>
            </a:fld>
            <a:endParaRPr lang="en-US"/>
          </a:p>
        </p:txBody>
      </p:sp>
    </p:spTree>
    <p:extLst>
      <p:ext uri="{BB962C8B-B14F-4D97-AF65-F5344CB8AC3E}">
        <p14:creationId xmlns:p14="http://schemas.microsoft.com/office/powerpoint/2010/main" val="10243138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4EEFFC-C53E-174F-49F5-FE13E442287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0B3F0D-C79E-A75B-A4D9-3D8E2CB938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987D58-840D-8F02-06D4-2873C28C1874}"/>
              </a:ext>
            </a:extLst>
          </p:cNvPr>
          <p:cNvSpPr>
            <a:spLocks noGrp="1"/>
          </p:cNvSpPr>
          <p:nvPr>
            <p:ph type="dt" sz="half" idx="10"/>
          </p:nvPr>
        </p:nvSpPr>
        <p:spPr/>
        <p:txBody>
          <a:bodyPr/>
          <a:lstStyle/>
          <a:p>
            <a:fld id="{AA32C204-FC70-4BFF-ADE3-359380038BA1}" type="datetimeFigureOut">
              <a:rPr lang="en-US" smtClean="0"/>
              <a:t>10/12/2026</a:t>
            </a:fld>
            <a:endParaRPr lang="en-US"/>
          </a:p>
        </p:txBody>
      </p:sp>
      <p:sp>
        <p:nvSpPr>
          <p:cNvPr id="5" name="Footer Placeholder 4">
            <a:extLst>
              <a:ext uri="{FF2B5EF4-FFF2-40B4-BE49-F238E27FC236}">
                <a16:creationId xmlns:a16="http://schemas.microsoft.com/office/drawing/2014/main" id="{12D87D05-0CB3-8088-E0E0-C8A3949578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53E61E-AD35-6049-7A89-42C7BCF22186}"/>
              </a:ext>
            </a:extLst>
          </p:cNvPr>
          <p:cNvSpPr>
            <a:spLocks noGrp="1"/>
          </p:cNvSpPr>
          <p:nvPr>
            <p:ph type="sldNum" sz="quarter" idx="12"/>
          </p:nvPr>
        </p:nvSpPr>
        <p:spPr/>
        <p:txBody>
          <a:bodyPr/>
          <a:lstStyle/>
          <a:p>
            <a:fld id="{F688BD24-5527-4FB3-A432-C2BE6E925764}" type="slidenum">
              <a:rPr lang="en-US" smtClean="0"/>
              <a:t>‹#›</a:t>
            </a:fld>
            <a:endParaRPr lang="en-US"/>
          </a:p>
        </p:txBody>
      </p:sp>
    </p:spTree>
    <p:extLst>
      <p:ext uri="{BB962C8B-B14F-4D97-AF65-F5344CB8AC3E}">
        <p14:creationId xmlns:p14="http://schemas.microsoft.com/office/powerpoint/2010/main" val="25273910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5" name="Google Shape;25;p5"/>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26" name="Google Shape;26;p5"/>
          <p:cNvSpPr txBox="1">
            <a:spLocks noGrp="1"/>
          </p:cNvSpPr>
          <p:nvPr>
            <p:ph type="sldNum" idx="12"/>
          </p:nvPr>
        </p:nvSpPr>
        <p:spPr>
          <a:xfrm>
            <a:off x="9760407" y="6333200"/>
            <a:ext cx="2431600" cy="524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978348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B63471-C741-2E39-F775-9D906D06A9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CF0C764-0E7E-5576-7FE6-FC3DF49E5B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365724-9669-62D6-D9C6-A6349F30EE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A32C204-FC70-4BFF-ADE3-359380038BA1}" type="datetimeFigureOut">
              <a:rPr lang="en-US" smtClean="0"/>
              <a:t>10/12/2026</a:t>
            </a:fld>
            <a:endParaRPr lang="en-US"/>
          </a:p>
        </p:txBody>
      </p:sp>
      <p:sp>
        <p:nvSpPr>
          <p:cNvPr id="5" name="Footer Placeholder 4">
            <a:extLst>
              <a:ext uri="{FF2B5EF4-FFF2-40B4-BE49-F238E27FC236}">
                <a16:creationId xmlns:a16="http://schemas.microsoft.com/office/drawing/2014/main" id="{A4217F69-52C3-B507-2DFE-75AC4FC9ED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AF68AF2-A599-04E4-05C6-96FF0D992B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688BD24-5527-4FB3-A432-C2BE6E925764}" type="slidenum">
              <a:rPr lang="en-US" smtClean="0"/>
              <a:t>‹#›</a:t>
            </a:fld>
            <a:endParaRPr lang="en-US"/>
          </a:p>
        </p:txBody>
      </p:sp>
    </p:spTree>
    <p:extLst>
      <p:ext uri="{BB962C8B-B14F-4D97-AF65-F5344CB8AC3E}">
        <p14:creationId xmlns:p14="http://schemas.microsoft.com/office/powerpoint/2010/main" val="34160598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hyperlink" Target="https://carpentries.org/about/"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carpentries.org/lesson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carpentries.org/workshops-curricula/" TargetMode="Externa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hyperlink" Target="https://datacarpentry.github.io/R-ecology-lesson/how-r-thinks-about-data.htm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hyperlink" Target="https://unsplash.com/photos/shallow-focus-photo-of-thank-you-for-shopping-signage-qvWnGmoTbik?utm_source=unsplash&amp;utm_medium=referral&amp;utm_content=creditCopyText" TargetMode="External"/><Relationship Id="rId4" Type="http://schemas.openxmlformats.org/officeDocument/2006/relationships/hyperlink" Target="https://unsplash.com/@timmossholder?utm_source=unsplash&amp;utm_medium=referral&amp;utm_content=creditCopyText"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www.credly.com/badges/857c3d55-d781-40a5-977e-34bd2eb3d488/linked_in_profile"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datacarpentry.github.io/R-ecology-lesson/how-r-thinks-about-data.html#generative-ai-help"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hyperlink" Target="https://osu-carpentry.github.io/2026-04-02-OSU-UCO/files/r-practice-problems-week-1.html"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hyperlink" Target="https://osu-carpentry.github.io/2026-04-02-OSU-UCO/files/r-answer-key-week-1.html"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6.xml"/><Relationship Id="rId5" Type="http://schemas.openxmlformats.org/officeDocument/2006/relationships/image" Target="../media/image29.png"/><Relationship Id="rId4" Type="http://schemas.openxmlformats.org/officeDocument/2006/relationships/hyperlink" Target="https://github.com/dakirsc/r-rstudio-micro-credentia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29122A-B4C0-4C6D-5CB2-9753384728ED}"/>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0" y="-1"/>
            <a:ext cx="12192000" cy="6858001"/>
          </a:xfrm>
          <a:prstGeom prst="rect">
            <a:avLst/>
          </a:prstGeom>
        </p:spPr>
      </p:pic>
      <p:sp>
        <p:nvSpPr>
          <p:cNvPr id="7" name="Rectangle 6">
            <a:extLst>
              <a:ext uri="{FF2B5EF4-FFF2-40B4-BE49-F238E27FC236}">
                <a16:creationId xmlns:a16="http://schemas.microsoft.com/office/drawing/2014/main" id="{942E7931-6B00-14B1-6491-11C2732BCEA1}"/>
              </a:ext>
              <a:ext uri="{C183D7F6-B498-43B3-948B-1728B52AA6E4}">
                <adec:decorative xmlns:adec="http://schemas.microsoft.com/office/drawing/2017/decorative" val="1"/>
              </a:ext>
            </a:extLst>
          </p:cNvPr>
          <p:cNvSpPr/>
          <p:nvPr/>
        </p:nvSpPr>
        <p:spPr>
          <a:xfrm>
            <a:off x="1" y="617863"/>
            <a:ext cx="12192000" cy="3804362"/>
          </a:xfrm>
          <a:prstGeom prst="rect">
            <a:avLst/>
          </a:pr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E70032-1E8E-563B-E0A1-EBA61797B9C3}"/>
              </a:ext>
            </a:extLst>
          </p:cNvPr>
          <p:cNvSpPr>
            <a:spLocks noGrp="1"/>
          </p:cNvSpPr>
          <p:nvPr>
            <p:ph type="ctrTitle"/>
          </p:nvPr>
        </p:nvSpPr>
        <p:spPr>
          <a:xfrm>
            <a:off x="748205" y="617863"/>
            <a:ext cx="10695589" cy="3804362"/>
          </a:xfrm>
        </p:spPr>
        <p:txBody>
          <a:bodyPr anchor="ctr">
            <a:normAutofit/>
          </a:bodyPr>
          <a:lstStyle/>
          <a:p>
            <a:r>
              <a:rPr lang="en-US" b="1" dirty="0"/>
              <a:t>Improving Information Retention and Learner Self-Efficacy through a Coding Workshop Micro-credential</a:t>
            </a:r>
            <a:endParaRPr lang="en-US" dirty="0"/>
          </a:p>
        </p:txBody>
      </p:sp>
      <p:sp>
        <p:nvSpPr>
          <p:cNvPr id="9" name="Rectangle 8">
            <a:extLst>
              <a:ext uri="{FF2B5EF4-FFF2-40B4-BE49-F238E27FC236}">
                <a16:creationId xmlns:a16="http://schemas.microsoft.com/office/drawing/2014/main" id="{092DC5DB-5C8C-6399-3C2A-DF19F5B913F0}"/>
              </a:ext>
              <a:ext uri="{C183D7F6-B498-43B3-948B-1728B52AA6E4}">
                <adec:decorative xmlns:adec="http://schemas.microsoft.com/office/drawing/2017/decorative" val="1"/>
              </a:ext>
            </a:extLst>
          </p:cNvPr>
          <p:cNvSpPr/>
          <p:nvPr/>
        </p:nvSpPr>
        <p:spPr>
          <a:xfrm>
            <a:off x="-1" y="4800599"/>
            <a:ext cx="12192000" cy="1762919"/>
          </a:xfrm>
          <a:prstGeom prst="rect">
            <a:avLst/>
          </a:prstGeom>
          <a:solidFill>
            <a:srgbClr val="FFFFFF">
              <a:alpha val="6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5BA94EC7-6FBE-76CF-F4DC-51BFD5F6E71C}"/>
              </a:ext>
            </a:extLst>
          </p:cNvPr>
          <p:cNvSpPr>
            <a:spLocks noGrp="1"/>
          </p:cNvSpPr>
          <p:nvPr>
            <p:ph type="subTitle" idx="1"/>
          </p:nvPr>
        </p:nvSpPr>
        <p:spPr>
          <a:xfrm>
            <a:off x="1524000" y="4800600"/>
            <a:ext cx="9144000" cy="1762919"/>
          </a:xfrm>
        </p:spPr>
        <p:txBody>
          <a:bodyPr anchor="ctr"/>
          <a:lstStyle/>
          <a:p>
            <a:r>
              <a:rPr lang="en-US" sz="2800" b="1" dirty="0"/>
              <a:t>Dani Kirsch, Ph.D.</a:t>
            </a:r>
            <a:br>
              <a:rPr lang="en-US" sz="2800" b="1" dirty="0"/>
            </a:br>
            <a:r>
              <a:rPr lang="en-US" dirty="0"/>
              <a:t>Research Data Services Librarian, Oklahoma State University</a:t>
            </a:r>
          </a:p>
          <a:p>
            <a:r>
              <a:rPr lang="en-US" sz="2800" b="1" dirty="0"/>
              <a:t>Jaina Agan, Ph.D.</a:t>
            </a:r>
            <a:br>
              <a:rPr lang="en-US" sz="2800" dirty="0"/>
            </a:br>
            <a:r>
              <a:rPr lang="en-US" dirty="0"/>
              <a:t>Assistant Professor of Biology, University of Central Oklahoma</a:t>
            </a:r>
          </a:p>
        </p:txBody>
      </p:sp>
    </p:spTree>
    <p:extLst>
      <p:ext uri="{BB962C8B-B14F-4D97-AF65-F5344CB8AC3E}">
        <p14:creationId xmlns:p14="http://schemas.microsoft.com/office/powerpoint/2010/main" val="7597006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DDDC511-6981-9B1B-AE3F-018248226382}"/>
              </a:ext>
            </a:extLst>
          </p:cNvPr>
          <p:cNvSpPr>
            <a:spLocks noGrp="1"/>
          </p:cNvSpPr>
          <p:nvPr>
            <p:ph type="title"/>
          </p:nvPr>
        </p:nvSpPr>
        <p:spPr>
          <a:xfrm>
            <a:off x="227445" y="365125"/>
            <a:ext cx="11127943" cy="1325563"/>
          </a:xfrm>
        </p:spPr>
        <p:txBody>
          <a:bodyPr/>
          <a:lstStyle/>
          <a:p>
            <a:r>
              <a:rPr lang="en-US" dirty="0"/>
              <a:t>Who Are We?</a:t>
            </a:r>
          </a:p>
        </p:txBody>
      </p:sp>
      <p:sp>
        <p:nvSpPr>
          <p:cNvPr id="7" name="Text Placeholder 6">
            <a:extLst>
              <a:ext uri="{FF2B5EF4-FFF2-40B4-BE49-F238E27FC236}">
                <a16:creationId xmlns:a16="http://schemas.microsoft.com/office/drawing/2014/main" id="{1B729DC7-89F3-31B8-482F-DA1526E52A43}"/>
              </a:ext>
            </a:extLst>
          </p:cNvPr>
          <p:cNvSpPr>
            <a:spLocks noGrp="1"/>
          </p:cNvSpPr>
          <p:nvPr>
            <p:ph type="body" idx="1"/>
          </p:nvPr>
        </p:nvSpPr>
        <p:spPr>
          <a:xfrm>
            <a:off x="171450" y="2283836"/>
            <a:ext cx="5157787" cy="823912"/>
          </a:xfrm>
        </p:spPr>
        <p:txBody>
          <a:bodyPr>
            <a:normAutofit/>
          </a:bodyPr>
          <a:lstStyle/>
          <a:p>
            <a:r>
              <a:rPr lang="en-US" sz="2800" dirty="0"/>
              <a:t>Dr. Jaina Agan</a:t>
            </a:r>
          </a:p>
        </p:txBody>
      </p:sp>
      <p:sp>
        <p:nvSpPr>
          <p:cNvPr id="8" name="Content Placeholder 7">
            <a:extLst>
              <a:ext uri="{FF2B5EF4-FFF2-40B4-BE49-F238E27FC236}">
                <a16:creationId xmlns:a16="http://schemas.microsoft.com/office/drawing/2014/main" id="{29C4DF2C-DF81-9579-81E7-0813AFF93691}"/>
              </a:ext>
            </a:extLst>
          </p:cNvPr>
          <p:cNvSpPr>
            <a:spLocks noGrp="1"/>
          </p:cNvSpPr>
          <p:nvPr>
            <p:ph sz="half" idx="2"/>
          </p:nvPr>
        </p:nvSpPr>
        <p:spPr>
          <a:xfrm>
            <a:off x="171450" y="3429000"/>
            <a:ext cx="5826125" cy="3189083"/>
          </a:xfrm>
        </p:spPr>
        <p:txBody>
          <a:bodyPr>
            <a:normAutofit fontScale="92500"/>
          </a:bodyPr>
          <a:lstStyle/>
          <a:p>
            <a:r>
              <a:rPr lang="en-US" dirty="0"/>
              <a:t>University of Central Oklahoma (UCO)</a:t>
            </a:r>
          </a:p>
          <a:p>
            <a:r>
              <a:rPr lang="en-US" dirty="0"/>
              <a:t>Teach introductory biology classes, ecology, and animal behavior</a:t>
            </a:r>
          </a:p>
          <a:p>
            <a:r>
              <a:rPr lang="en-US" dirty="0"/>
              <a:t>Teaching R coding workshops since 2023</a:t>
            </a:r>
          </a:p>
          <a:p>
            <a:r>
              <a:rPr lang="en-US" dirty="0"/>
              <a:t>Certified Carpentries Instructor since 2023</a:t>
            </a:r>
          </a:p>
        </p:txBody>
      </p:sp>
      <p:sp>
        <p:nvSpPr>
          <p:cNvPr id="9" name="Text Placeholder 8">
            <a:extLst>
              <a:ext uri="{FF2B5EF4-FFF2-40B4-BE49-F238E27FC236}">
                <a16:creationId xmlns:a16="http://schemas.microsoft.com/office/drawing/2014/main" id="{B9977794-A86E-D0CC-165A-FFB05E01BB41}"/>
              </a:ext>
            </a:extLst>
          </p:cNvPr>
          <p:cNvSpPr>
            <a:spLocks noGrp="1"/>
          </p:cNvSpPr>
          <p:nvPr>
            <p:ph type="body" sz="quarter" idx="3"/>
          </p:nvPr>
        </p:nvSpPr>
        <p:spPr>
          <a:xfrm>
            <a:off x="6172199" y="2283836"/>
            <a:ext cx="5183188" cy="823912"/>
          </a:xfrm>
        </p:spPr>
        <p:txBody>
          <a:bodyPr>
            <a:normAutofit/>
          </a:bodyPr>
          <a:lstStyle/>
          <a:p>
            <a:r>
              <a:rPr lang="en-US" sz="2800" dirty="0"/>
              <a:t>Dr. Dani Kirsch</a:t>
            </a:r>
          </a:p>
        </p:txBody>
      </p:sp>
      <p:sp>
        <p:nvSpPr>
          <p:cNvPr id="10" name="Content Placeholder 9">
            <a:extLst>
              <a:ext uri="{FF2B5EF4-FFF2-40B4-BE49-F238E27FC236}">
                <a16:creationId xmlns:a16="http://schemas.microsoft.com/office/drawing/2014/main" id="{66FB3C81-8812-D93C-6359-13AC8525578F}"/>
              </a:ext>
            </a:extLst>
          </p:cNvPr>
          <p:cNvSpPr>
            <a:spLocks noGrp="1"/>
          </p:cNvSpPr>
          <p:nvPr>
            <p:ph sz="quarter" idx="4"/>
          </p:nvPr>
        </p:nvSpPr>
        <p:spPr>
          <a:xfrm>
            <a:off x="6172199" y="3428999"/>
            <a:ext cx="5848349" cy="3189082"/>
          </a:xfrm>
        </p:spPr>
        <p:txBody>
          <a:bodyPr>
            <a:normAutofit fontScale="92500"/>
          </a:bodyPr>
          <a:lstStyle/>
          <a:p>
            <a:r>
              <a:rPr lang="en-US" dirty="0"/>
              <a:t>Oklahoma State University (OSU)</a:t>
            </a:r>
          </a:p>
          <a:p>
            <a:r>
              <a:rPr lang="en-US" dirty="0"/>
              <a:t>Instruct and support researchers on data management and sharing</a:t>
            </a:r>
          </a:p>
          <a:p>
            <a:r>
              <a:rPr lang="en-US" dirty="0"/>
              <a:t>Teaching R coding workshops since 2021</a:t>
            </a:r>
          </a:p>
          <a:p>
            <a:r>
              <a:rPr lang="en-US" dirty="0"/>
              <a:t>Certified Carpentries Instructor since 2022</a:t>
            </a:r>
          </a:p>
          <a:p>
            <a:endParaRPr lang="en-US" dirty="0"/>
          </a:p>
        </p:txBody>
      </p:sp>
      <p:pic>
        <p:nvPicPr>
          <p:cNvPr id="5" name="Picture 4">
            <a:extLst>
              <a:ext uri="{FF2B5EF4-FFF2-40B4-BE49-F238E27FC236}">
                <a16:creationId xmlns:a16="http://schemas.microsoft.com/office/drawing/2014/main" id="{29F9B3A4-8FAA-7DC2-CAC4-DCE749A620E0}"/>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0064" y="160780"/>
            <a:ext cx="1964491" cy="2946968"/>
          </a:xfrm>
          <a:prstGeom prst="rect">
            <a:avLst/>
          </a:prstGeom>
        </p:spPr>
      </p:pic>
      <p:pic>
        <p:nvPicPr>
          <p:cNvPr id="11" name="Picture 10">
            <a:extLst>
              <a:ext uri="{FF2B5EF4-FFF2-40B4-BE49-F238E27FC236}">
                <a16:creationId xmlns:a16="http://schemas.microsoft.com/office/drawing/2014/main" id="{44857BA5-5BC8-1110-FB74-4364C45BD896}"/>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26925" y="161869"/>
            <a:ext cx="1964491" cy="2945879"/>
          </a:xfrm>
          <a:prstGeom prst="rect">
            <a:avLst/>
          </a:prstGeom>
        </p:spPr>
      </p:pic>
    </p:spTree>
    <p:extLst>
      <p:ext uri="{BB962C8B-B14F-4D97-AF65-F5344CB8AC3E}">
        <p14:creationId xmlns:p14="http://schemas.microsoft.com/office/powerpoint/2010/main" val="37936334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3861185-84D8-9A13-94D4-9BFBB9BA775D}"/>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8" name="Rectangle 7">
            <a:extLst>
              <a:ext uri="{FF2B5EF4-FFF2-40B4-BE49-F238E27FC236}">
                <a16:creationId xmlns:a16="http://schemas.microsoft.com/office/drawing/2014/main" id="{2E3A92C2-3C0A-108E-6F78-0391C152E4E2}"/>
              </a:ext>
              <a:ext uri="{C183D7F6-B498-43B3-948B-1728B52AA6E4}">
                <adec:decorative xmlns:adec="http://schemas.microsoft.com/office/drawing/2017/decorative" val="1"/>
              </a:ext>
            </a:extLst>
          </p:cNvPr>
          <p:cNvSpPr/>
          <p:nvPr/>
        </p:nvSpPr>
        <p:spPr>
          <a:xfrm>
            <a:off x="0" y="4125184"/>
            <a:ext cx="12192000" cy="178723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itle 3">
            <a:extLst>
              <a:ext uri="{FF2B5EF4-FFF2-40B4-BE49-F238E27FC236}">
                <a16:creationId xmlns:a16="http://schemas.microsoft.com/office/drawing/2014/main" id="{AAE7C655-625A-BCD6-4F6A-4B029EC52501}"/>
              </a:ext>
            </a:extLst>
          </p:cNvPr>
          <p:cNvSpPr>
            <a:spLocks noGrp="1"/>
          </p:cNvSpPr>
          <p:nvPr>
            <p:ph type="title"/>
          </p:nvPr>
        </p:nvSpPr>
        <p:spPr>
          <a:xfrm>
            <a:off x="831850" y="2333186"/>
            <a:ext cx="10515600" cy="2852737"/>
          </a:xfrm>
        </p:spPr>
        <p:txBody>
          <a:bodyPr/>
          <a:lstStyle/>
          <a:p>
            <a:r>
              <a:rPr lang="en-US" dirty="0">
                <a:solidFill>
                  <a:schemeClr val="bg1"/>
                </a:solidFill>
              </a:rPr>
              <a:t>Our Instructional Context</a:t>
            </a:r>
          </a:p>
        </p:txBody>
      </p:sp>
      <p:sp>
        <p:nvSpPr>
          <p:cNvPr id="5" name="Text Placeholder 4">
            <a:extLst>
              <a:ext uri="{FF2B5EF4-FFF2-40B4-BE49-F238E27FC236}">
                <a16:creationId xmlns:a16="http://schemas.microsoft.com/office/drawing/2014/main" id="{B4C38B5B-3ACC-FB0F-57D5-08389B0D7582}"/>
              </a:ext>
            </a:extLst>
          </p:cNvPr>
          <p:cNvSpPr>
            <a:spLocks noGrp="1"/>
          </p:cNvSpPr>
          <p:nvPr>
            <p:ph type="body" idx="1"/>
          </p:nvPr>
        </p:nvSpPr>
        <p:spPr>
          <a:xfrm>
            <a:off x="831850" y="5212911"/>
            <a:ext cx="10515600" cy="1500187"/>
          </a:xfrm>
        </p:spPr>
        <p:txBody>
          <a:bodyPr>
            <a:normAutofit/>
          </a:bodyPr>
          <a:lstStyle/>
          <a:p>
            <a:r>
              <a:rPr lang="en-US" sz="3200" dirty="0">
                <a:solidFill>
                  <a:schemeClr val="bg1"/>
                </a:solidFill>
              </a:rPr>
              <a:t>Carpentries Workshops</a:t>
            </a:r>
          </a:p>
        </p:txBody>
      </p:sp>
    </p:spTree>
    <p:extLst>
      <p:ext uri="{BB962C8B-B14F-4D97-AF65-F5344CB8AC3E}">
        <p14:creationId xmlns:p14="http://schemas.microsoft.com/office/powerpoint/2010/main" val="651290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1"/>
          <p:cNvSpPr txBox="1">
            <a:spLocks noGrp="1"/>
          </p:cNvSpPr>
          <p:nvPr>
            <p:ph type="title"/>
          </p:nvPr>
        </p:nvSpPr>
        <p:spPr>
          <a:xfrm>
            <a:off x="316819" y="375601"/>
            <a:ext cx="7916514" cy="763600"/>
          </a:xfrm>
          <a:prstGeom prst="rect">
            <a:avLst/>
          </a:prstGeom>
        </p:spPr>
        <p:txBody>
          <a:bodyPr spcFirstLastPara="1" wrap="square" lIns="121900" tIns="121900" rIns="121900" bIns="121900" anchor="t" anchorCtr="0">
            <a:noAutofit/>
          </a:bodyPr>
          <a:lstStyle/>
          <a:p>
            <a:r>
              <a:rPr lang="en" dirty="0"/>
              <a:t>Global, non-profit organization</a:t>
            </a:r>
            <a:endParaRPr dirty="0"/>
          </a:p>
        </p:txBody>
      </p:sp>
      <p:sp>
        <p:nvSpPr>
          <p:cNvPr id="118" name="Google Shape;118;p21"/>
          <p:cNvSpPr txBox="1">
            <a:spLocks noGrp="1"/>
          </p:cNvSpPr>
          <p:nvPr>
            <p:ph type="body" idx="1"/>
          </p:nvPr>
        </p:nvSpPr>
        <p:spPr>
          <a:xfrm>
            <a:off x="316819" y="1159325"/>
            <a:ext cx="5876237" cy="5494971"/>
          </a:xfrm>
          <a:prstGeom prst="rect">
            <a:avLst/>
          </a:prstGeom>
        </p:spPr>
        <p:txBody>
          <a:bodyPr spcFirstLastPara="1" wrap="square" lIns="121900" tIns="121900" rIns="121900" bIns="121900" anchor="ctr" anchorCtr="0">
            <a:noAutofit/>
          </a:bodyPr>
          <a:lstStyle/>
          <a:p>
            <a:pPr marL="344488" indent="-290513">
              <a:spcAft>
                <a:spcPts val="2400"/>
              </a:spcAft>
            </a:pPr>
            <a:r>
              <a:rPr lang="en-US" dirty="0"/>
              <a:t>Train people in </a:t>
            </a:r>
            <a:r>
              <a:rPr lang="en-US" b="1" dirty="0"/>
              <a:t>software development </a:t>
            </a:r>
            <a:r>
              <a:rPr lang="en-US" dirty="0"/>
              <a:t>and </a:t>
            </a:r>
            <a:r>
              <a:rPr lang="en-US" b="1" dirty="0"/>
              <a:t>data science skills </a:t>
            </a:r>
            <a:r>
              <a:rPr lang="en-US" dirty="0"/>
              <a:t>for more effective work and career development</a:t>
            </a:r>
            <a:endParaRPr lang="en-US" sz="1100" dirty="0"/>
          </a:p>
          <a:p>
            <a:pPr marL="344488" indent="-290513">
              <a:spcAft>
                <a:spcPts val="2400"/>
              </a:spcAft>
            </a:pPr>
            <a:r>
              <a:rPr lang="en-US" b="1" dirty="0"/>
              <a:t>Build community </a:t>
            </a:r>
            <a:r>
              <a:rPr lang="en-US" dirty="0"/>
              <a:t>and </a:t>
            </a:r>
            <a:r>
              <a:rPr lang="en-US" b="1" dirty="0"/>
              <a:t>local capacity </a:t>
            </a:r>
            <a:r>
              <a:rPr lang="en-US" dirty="0"/>
              <a:t>for teaching and learning these skills and perspectives</a:t>
            </a:r>
            <a:endParaRPr lang="en-US" sz="1100" dirty="0"/>
          </a:p>
          <a:p>
            <a:pPr marL="344488" indent="-290513">
              <a:spcAft>
                <a:spcPts val="2400"/>
              </a:spcAft>
            </a:pPr>
            <a:r>
              <a:rPr lang="en" dirty="0"/>
              <a:t>Offer training that is </a:t>
            </a:r>
            <a:r>
              <a:rPr lang="en" b="1" dirty="0"/>
              <a:t>accessible</a:t>
            </a:r>
            <a:r>
              <a:rPr lang="en" dirty="0"/>
              <a:t>, </a:t>
            </a:r>
            <a:r>
              <a:rPr lang="en" b="1" dirty="0"/>
              <a:t>approachable</a:t>
            </a:r>
            <a:r>
              <a:rPr lang="en" dirty="0"/>
              <a:t>, and </a:t>
            </a:r>
            <a:r>
              <a:rPr lang="en" b="1" dirty="0"/>
              <a:t>applicable</a:t>
            </a:r>
            <a:endParaRPr b="1" dirty="0"/>
          </a:p>
        </p:txBody>
      </p:sp>
      <p:grpSp>
        <p:nvGrpSpPr>
          <p:cNvPr id="2" name="Google Shape;153;p20" descr="A pyramid showing the local OSU Carpentries community volunteer helpers and instructors supporting the base, Carpentries lesson developers and maintainers in the center of the pyramid, and committees and task forces at the top. ">
            <a:extLst>
              <a:ext uri="{FF2B5EF4-FFF2-40B4-BE49-F238E27FC236}">
                <a16:creationId xmlns:a16="http://schemas.microsoft.com/office/drawing/2014/main" id="{FC5F3D41-A619-C7FB-FDD6-A4447CCEA2DB}"/>
              </a:ext>
            </a:extLst>
          </p:cNvPr>
          <p:cNvGrpSpPr/>
          <p:nvPr/>
        </p:nvGrpSpPr>
        <p:grpSpPr>
          <a:xfrm>
            <a:off x="5998944" y="1347807"/>
            <a:ext cx="5876237" cy="4828446"/>
            <a:chOff x="2135905" y="1561596"/>
            <a:chExt cx="5876237" cy="4828446"/>
          </a:xfrm>
        </p:grpSpPr>
        <p:sp>
          <p:nvSpPr>
            <p:cNvPr id="3" name="Google Shape;154;p20">
              <a:extLst>
                <a:ext uri="{FF2B5EF4-FFF2-40B4-BE49-F238E27FC236}">
                  <a16:creationId xmlns:a16="http://schemas.microsoft.com/office/drawing/2014/main" id="{FD7384B3-7190-FB31-E360-A26D2645123E}"/>
                </a:ext>
              </a:extLst>
            </p:cNvPr>
            <p:cNvSpPr/>
            <p:nvPr/>
          </p:nvSpPr>
          <p:spPr>
            <a:xfrm>
              <a:off x="2135905" y="1561596"/>
              <a:ext cx="5876237" cy="4828446"/>
            </a:xfrm>
            <a:prstGeom prst="flowChartExtract">
              <a:avLst/>
            </a:prstGeom>
            <a:noFill/>
            <a:ln w="5715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4" name="Google Shape;155;p20">
              <a:extLst>
                <a:ext uri="{FF2B5EF4-FFF2-40B4-BE49-F238E27FC236}">
                  <a16:creationId xmlns:a16="http://schemas.microsoft.com/office/drawing/2014/main" id="{B0E943C2-E1D0-0A10-A6FF-890EBE8CF759}"/>
                </a:ext>
              </a:extLst>
            </p:cNvPr>
            <p:cNvCxnSpPr/>
            <p:nvPr/>
          </p:nvCxnSpPr>
          <p:spPr>
            <a:xfrm rot="10800000" flipH="1">
              <a:off x="3001384" y="4948518"/>
              <a:ext cx="4141694" cy="32273"/>
            </a:xfrm>
            <a:prstGeom prst="straightConnector1">
              <a:avLst/>
            </a:prstGeom>
            <a:noFill/>
            <a:ln w="38100" cap="flat" cmpd="sng">
              <a:solidFill>
                <a:schemeClr val="accent1"/>
              </a:solidFill>
              <a:prstDash val="solid"/>
              <a:miter lim="800000"/>
              <a:headEnd type="none" w="sm" len="sm"/>
              <a:tailEnd type="none" w="sm" len="sm"/>
            </a:ln>
          </p:spPr>
        </p:cxnSp>
        <p:cxnSp>
          <p:nvCxnSpPr>
            <p:cNvPr id="5" name="Google Shape;156;p20">
              <a:extLst>
                <a:ext uri="{FF2B5EF4-FFF2-40B4-BE49-F238E27FC236}">
                  <a16:creationId xmlns:a16="http://schemas.microsoft.com/office/drawing/2014/main" id="{1DF812D9-290E-5E2C-5975-4402F53B4587}"/>
                </a:ext>
              </a:extLst>
            </p:cNvPr>
            <p:cNvCxnSpPr/>
            <p:nvPr/>
          </p:nvCxnSpPr>
          <p:spPr>
            <a:xfrm>
              <a:off x="3711388" y="3785163"/>
              <a:ext cx="2710927" cy="1529"/>
            </a:xfrm>
            <a:prstGeom prst="straightConnector1">
              <a:avLst/>
            </a:prstGeom>
            <a:noFill/>
            <a:ln w="28575" cap="flat" cmpd="sng">
              <a:solidFill>
                <a:schemeClr val="accent1"/>
              </a:solidFill>
              <a:prstDash val="solid"/>
              <a:miter lim="800000"/>
              <a:headEnd type="none" w="sm" len="sm"/>
              <a:tailEnd type="none" w="sm" len="sm"/>
            </a:ln>
          </p:spPr>
        </p:cxnSp>
        <p:sp>
          <p:nvSpPr>
            <p:cNvPr id="6" name="Google Shape;157;p20">
              <a:extLst>
                <a:ext uri="{FF2B5EF4-FFF2-40B4-BE49-F238E27FC236}">
                  <a16:creationId xmlns:a16="http://schemas.microsoft.com/office/drawing/2014/main" id="{D89AF1DF-049C-34ED-40D5-DF439D187F26}"/>
                </a:ext>
              </a:extLst>
            </p:cNvPr>
            <p:cNvSpPr txBox="1"/>
            <p:nvPr/>
          </p:nvSpPr>
          <p:spPr>
            <a:xfrm>
              <a:off x="3151990" y="5209830"/>
              <a:ext cx="3818966" cy="92333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b="1">
                  <a:solidFill>
                    <a:schemeClr val="accent5"/>
                  </a:solidFill>
                  <a:latin typeface="Calibri"/>
                  <a:ea typeface="Calibri"/>
                  <a:cs typeface="Calibri"/>
                  <a:sym typeface="Calibri"/>
                </a:rPr>
                <a:t>Local Carpentries Community </a:t>
              </a:r>
              <a:r>
                <a:rPr lang="en-US" sz="1800">
                  <a:solidFill>
                    <a:schemeClr val="dk1"/>
                  </a:solidFill>
                  <a:latin typeface="Calibri"/>
                  <a:ea typeface="Calibri"/>
                  <a:cs typeface="Calibri"/>
                  <a:sym typeface="Calibri"/>
                </a:rPr>
                <a:t>Workshop helpers, instructors, workshop organizing committee</a:t>
              </a:r>
              <a:endParaRPr sz="1800">
                <a:solidFill>
                  <a:schemeClr val="dk1"/>
                </a:solidFill>
                <a:latin typeface="Calibri"/>
                <a:ea typeface="Calibri"/>
                <a:cs typeface="Calibri"/>
                <a:sym typeface="Calibri"/>
              </a:endParaRPr>
            </a:p>
          </p:txBody>
        </p:sp>
        <p:sp>
          <p:nvSpPr>
            <p:cNvPr id="7" name="Google Shape;158;p20">
              <a:extLst>
                <a:ext uri="{FF2B5EF4-FFF2-40B4-BE49-F238E27FC236}">
                  <a16:creationId xmlns:a16="http://schemas.microsoft.com/office/drawing/2014/main" id="{C2DC61CE-8702-DE73-234A-A34CC6C68B3C}"/>
                </a:ext>
              </a:extLst>
            </p:cNvPr>
            <p:cNvSpPr txBox="1"/>
            <p:nvPr/>
          </p:nvSpPr>
          <p:spPr>
            <a:xfrm>
              <a:off x="3786692" y="3898011"/>
              <a:ext cx="2549562" cy="92333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Carpentries lesson development &amp; maintenance</a:t>
              </a:r>
              <a:endParaRPr sz="1800">
                <a:solidFill>
                  <a:schemeClr val="dk1"/>
                </a:solidFill>
                <a:latin typeface="Calibri"/>
                <a:ea typeface="Calibri"/>
                <a:cs typeface="Calibri"/>
                <a:sym typeface="Calibri"/>
              </a:endParaRPr>
            </a:p>
          </p:txBody>
        </p:sp>
        <p:sp>
          <p:nvSpPr>
            <p:cNvPr id="8" name="Google Shape;159;p20">
              <a:extLst>
                <a:ext uri="{FF2B5EF4-FFF2-40B4-BE49-F238E27FC236}">
                  <a16:creationId xmlns:a16="http://schemas.microsoft.com/office/drawing/2014/main" id="{6329B050-B461-E113-1F5D-4551E288A477}"/>
                </a:ext>
              </a:extLst>
            </p:cNvPr>
            <p:cNvSpPr txBox="1"/>
            <p:nvPr/>
          </p:nvSpPr>
          <p:spPr>
            <a:xfrm>
              <a:off x="4370294" y="2852514"/>
              <a:ext cx="1403873"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Committees &amp; task forces</a:t>
              </a:r>
              <a:endParaRPr sz="1800" dirty="0">
                <a:solidFill>
                  <a:schemeClr val="dk1"/>
                </a:solidFill>
                <a:latin typeface="Calibri"/>
                <a:ea typeface="Calibri"/>
                <a:cs typeface="Calibri"/>
                <a:sym typeface="Calibri"/>
              </a:endParaRPr>
            </a:p>
          </p:txBody>
        </p:sp>
      </p:grpSp>
      <p:pic>
        <p:nvPicPr>
          <p:cNvPr id="10" name="Google Shape;126;p22">
            <a:extLst>
              <a:ext uri="{FF2B5EF4-FFF2-40B4-BE49-F238E27FC236}">
                <a16:creationId xmlns:a16="http://schemas.microsoft.com/office/drawing/2014/main" id="{BACD6B9D-B00A-B3B3-E502-F865D32A27B8}"/>
              </a:ext>
              <a:ext uri="{C183D7F6-B498-43B3-948B-1728B52AA6E4}">
                <adec:decorative xmlns:adec="http://schemas.microsoft.com/office/drawing/2017/decorative" val="1"/>
              </a:ext>
            </a:extLst>
          </p:cNvPr>
          <p:cNvPicPr preferRelativeResize="0">
            <a:picLocks noChangeAspect="1"/>
          </p:cNvPicPr>
          <p:nvPr/>
        </p:nvPicPr>
        <p:blipFill>
          <a:blip r:embed="rId3" cstate="email">
            <a:alphaModFix/>
            <a:extLst>
              <a:ext uri="{28A0092B-C50C-407E-A947-70E740481C1C}">
                <a14:useLocalDpi xmlns:a14="http://schemas.microsoft.com/office/drawing/2010/main"/>
              </a:ext>
            </a:extLst>
          </a:blip>
          <a:stretch>
            <a:fillRect/>
          </a:stretch>
        </p:blipFill>
        <p:spPr>
          <a:xfrm>
            <a:off x="8129548" y="375601"/>
            <a:ext cx="3788914" cy="766198"/>
          </a:xfrm>
          <a:prstGeom prst="rect">
            <a:avLst/>
          </a:prstGeom>
          <a:noFill/>
          <a:ln>
            <a:noFill/>
          </a:ln>
        </p:spPr>
      </p:pic>
      <p:sp>
        <p:nvSpPr>
          <p:cNvPr id="12" name="TextBox 11">
            <a:extLst>
              <a:ext uri="{FF2B5EF4-FFF2-40B4-BE49-F238E27FC236}">
                <a16:creationId xmlns:a16="http://schemas.microsoft.com/office/drawing/2014/main" id="{D0874A7C-90FD-2E4A-6F90-C22ADEB0C56A}"/>
              </a:ext>
            </a:extLst>
          </p:cNvPr>
          <p:cNvSpPr txBox="1"/>
          <p:nvPr/>
        </p:nvSpPr>
        <p:spPr>
          <a:xfrm>
            <a:off x="6655378" y="6462571"/>
            <a:ext cx="5487529" cy="369332"/>
          </a:xfrm>
          <a:prstGeom prst="rect">
            <a:avLst/>
          </a:prstGeom>
          <a:noFill/>
        </p:spPr>
        <p:txBody>
          <a:bodyPr wrap="square" rtlCol="0">
            <a:spAutoFit/>
          </a:bodyPr>
          <a:lstStyle/>
          <a:p>
            <a:r>
              <a:rPr lang="en-US" i="1" dirty="0"/>
              <a:t>Learn more on the </a:t>
            </a:r>
            <a:r>
              <a:rPr lang="en-US" i="1" dirty="0">
                <a:solidFill>
                  <a:schemeClr val="tx2">
                    <a:lumMod val="50000"/>
                    <a:lumOff val="50000"/>
                  </a:schemeClr>
                </a:solidFill>
                <a:hlinkClick r:id="rId4">
                  <a:extLst>
                    <a:ext uri="{A12FA001-AC4F-418D-AE19-62706E023703}">
                      <ahyp:hlinkClr xmlns:ahyp="http://schemas.microsoft.com/office/drawing/2018/hyperlinkcolor" val="tx"/>
                    </a:ext>
                  </a:extLst>
                </a:hlinkClick>
              </a:rPr>
              <a:t>About Us page</a:t>
            </a:r>
            <a:r>
              <a:rPr lang="en-US" i="1" dirty="0">
                <a:solidFill>
                  <a:schemeClr val="tx2">
                    <a:lumMod val="50000"/>
                    <a:lumOff val="50000"/>
                  </a:schemeClr>
                </a:solidFill>
              </a:rPr>
              <a:t> </a:t>
            </a:r>
            <a:r>
              <a:rPr lang="en-US" i="1" dirty="0"/>
              <a:t>for The Carpentries</a:t>
            </a:r>
          </a:p>
        </p:txBody>
      </p:sp>
    </p:spTree>
    <p:extLst>
      <p:ext uri="{BB962C8B-B14F-4D97-AF65-F5344CB8AC3E}">
        <p14:creationId xmlns:p14="http://schemas.microsoft.com/office/powerpoint/2010/main" val="3959862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rtl="0">
              <a:lnSpc>
                <a:spcPct val="90000"/>
              </a:lnSpc>
              <a:spcBef>
                <a:spcPts val="0"/>
              </a:spcBef>
              <a:spcAft>
                <a:spcPts val="0"/>
              </a:spcAft>
              <a:buClr>
                <a:schemeClr val="dk1"/>
              </a:buClr>
              <a:buSzPts val="4400"/>
              <a:buFont typeface="Calibri"/>
              <a:buNone/>
            </a:pPr>
            <a:r>
              <a:rPr lang="en-US" dirty="0"/>
              <a:t>The Carpentries develops &amp; maintains free, </a:t>
            </a:r>
            <a:br>
              <a:rPr lang="en-US" dirty="0"/>
            </a:br>
            <a:r>
              <a:rPr lang="en-US" dirty="0"/>
              <a:t>openly-available lessons</a:t>
            </a:r>
            <a:endParaRPr dirty="0"/>
          </a:p>
        </p:txBody>
      </p:sp>
      <p:sp>
        <p:nvSpPr>
          <p:cNvPr id="2" name="Content Placeholder 1">
            <a:extLst>
              <a:ext uri="{FF2B5EF4-FFF2-40B4-BE49-F238E27FC236}">
                <a16:creationId xmlns:a16="http://schemas.microsoft.com/office/drawing/2014/main" id="{F1F7A143-C60D-5277-FDEA-EED9715230D0}"/>
              </a:ext>
            </a:extLst>
          </p:cNvPr>
          <p:cNvSpPr>
            <a:spLocks noGrp="1"/>
          </p:cNvSpPr>
          <p:nvPr>
            <p:ph idx="1"/>
          </p:nvPr>
        </p:nvSpPr>
        <p:spPr>
          <a:xfrm>
            <a:off x="638175" y="1825626"/>
            <a:ext cx="10915650" cy="2756766"/>
          </a:xfrm>
        </p:spPr>
        <p:txBody>
          <a:bodyPr anchor="ctr">
            <a:normAutofit/>
          </a:bodyPr>
          <a:lstStyle/>
          <a:p>
            <a:pPr marL="285750" lvl="0" indent="-285750">
              <a:spcBef>
                <a:spcPts val="0"/>
              </a:spcBef>
              <a:spcAft>
                <a:spcPts val="1200"/>
              </a:spcAft>
              <a:buClr>
                <a:schemeClr val="dk1"/>
              </a:buClr>
              <a:buSzPct val="100000"/>
              <a:buFont typeface="Calibri"/>
              <a:buChar char="•"/>
            </a:pPr>
            <a:r>
              <a:rPr lang="en-US" dirty="0">
                <a:solidFill>
                  <a:schemeClr val="dk1"/>
                </a:solidFill>
                <a:ea typeface="Calibri"/>
                <a:cs typeface="Calibri"/>
                <a:sym typeface="Calibri"/>
              </a:rPr>
              <a:t>4 major lesson programs, covering topics such as Python, R, and the Unix Shell/Bash while also incorporating </a:t>
            </a:r>
            <a:r>
              <a:rPr lang="en-US" dirty="0" err="1">
                <a:solidFill>
                  <a:schemeClr val="dk1"/>
                </a:solidFill>
                <a:ea typeface="Calibri"/>
                <a:cs typeface="Calibri"/>
                <a:sym typeface="Calibri"/>
              </a:rPr>
              <a:t>OpenRefine</a:t>
            </a:r>
            <a:r>
              <a:rPr lang="en-US" dirty="0">
                <a:solidFill>
                  <a:schemeClr val="dk1"/>
                </a:solidFill>
                <a:ea typeface="Calibri"/>
                <a:cs typeface="Calibri"/>
                <a:sym typeface="Calibri"/>
              </a:rPr>
              <a:t>, SQL, and Git </a:t>
            </a:r>
          </a:p>
          <a:p>
            <a:pPr marL="285750" lvl="0" indent="-285750">
              <a:spcBef>
                <a:spcPts val="0"/>
              </a:spcBef>
              <a:spcAft>
                <a:spcPts val="1200"/>
              </a:spcAft>
              <a:buClr>
                <a:schemeClr val="dk1"/>
              </a:buClr>
              <a:buSzPct val="100000"/>
              <a:buFont typeface="Calibri"/>
              <a:buChar char="•"/>
            </a:pPr>
            <a:r>
              <a:rPr lang="en-US" dirty="0">
                <a:solidFill>
                  <a:schemeClr val="dk1"/>
                </a:solidFill>
                <a:ea typeface="Calibri"/>
                <a:cs typeface="Calibri"/>
                <a:sym typeface="Calibri"/>
              </a:rPr>
              <a:t>Volunteer instructors trained in pedagogy</a:t>
            </a:r>
            <a:endParaRPr lang="en-US" dirty="0"/>
          </a:p>
          <a:p>
            <a:pPr marL="285750" lvl="0" indent="-285750">
              <a:spcBef>
                <a:spcPts val="0"/>
              </a:spcBef>
              <a:spcAft>
                <a:spcPts val="1200"/>
              </a:spcAft>
              <a:buClr>
                <a:schemeClr val="dk1"/>
              </a:buClr>
              <a:buSzPct val="100000"/>
              <a:buFont typeface="Calibri"/>
              <a:buChar char="•"/>
            </a:pPr>
            <a:r>
              <a:rPr lang="en-US" dirty="0">
                <a:solidFill>
                  <a:schemeClr val="dk1"/>
                </a:solidFill>
                <a:ea typeface="Calibri"/>
                <a:cs typeface="Calibri"/>
                <a:sym typeface="Calibri"/>
              </a:rPr>
              <a:t>Lessons developed &amp; maintained by volunteers</a:t>
            </a:r>
            <a:endParaRPr lang="en-US" dirty="0"/>
          </a:p>
          <a:p>
            <a:pPr marL="285750" lvl="0" indent="-285750">
              <a:spcBef>
                <a:spcPts val="0"/>
              </a:spcBef>
              <a:buClr>
                <a:schemeClr val="dk1"/>
              </a:buClr>
              <a:buSzPct val="100000"/>
              <a:buFont typeface="Calibri"/>
              <a:buChar char="•"/>
            </a:pPr>
            <a:r>
              <a:rPr lang="en-US" dirty="0">
                <a:solidFill>
                  <a:schemeClr val="dk1"/>
                </a:solidFill>
                <a:ea typeface="Calibri"/>
                <a:cs typeface="Calibri"/>
                <a:sym typeface="Calibri"/>
                <a:hlinkClick r:id="rId3"/>
              </a:rPr>
              <a:t>Lesson materials openly and freely available</a:t>
            </a:r>
            <a:r>
              <a:rPr lang="en-US" dirty="0">
                <a:solidFill>
                  <a:schemeClr val="dk1"/>
                </a:solidFill>
                <a:ea typeface="Calibri"/>
                <a:cs typeface="Calibri"/>
                <a:sym typeface="Calibri"/>
              </a:rPr>
              <a:t> on Carpentries website</a:t>
            </a:r>
            <a:endParaRPr lang="en-US" dirty="0"/>
          </a:p>
        </p:txBody>
      </p:sp>
      <p:pic>
        <p:nvPicPr>
          <p:cNvPr id="4" name="Picture 3" descr="Software Carpentry, Data Carpentry, Library Carpentry, and HPC Carpentry logos">
            <a:extLst>
              <a:ext uri="{FF2B5EF4-FFF2-40B4-BE49-F238E27FC236}">
                <a16:creationId xmlns:a16="http://schemas.microsoft.com/office/drawing/2014/main" id="{1896E17F-CA6C-6626-7892-464BD890A87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844619" y="4582392"/>
            <a:ext cx="6502762" cy="1869544"/>
          </a:xfrm>
          <a:prstGeom prst="rect">
            <a:avLst/>
          </a:prstGeom>
        </p:spPr>
      </p:pic>
      <p:sp>
        <p:nvSpPr>
          <p:cNvPr id="9" name="TextBox 8">
            <a:extLst>
              <a:ext uri="{FF2B5EF4-FFF2-40B4-BE49-F238E27FC236}">
                <a16:creationId xmlns:a16="http://schemas.microsoft.com/office/drawing/2014/main" id="{AD2EFF2B-AE9F-390A-32BF-ACFDEC1DBA1B}"/>
              </a:ext>
            </a:extLst>
          </p:cNvPr>
          <p:cNvSpPr txBox="1"/>
          <p:nvPr/>
        </p:nvSpPr>
        <p:spPr>
          <a:xfrm>
            <a:off x="7387937" y="6488668"/>
            <a:ext cx="4804064" cy="369332"/>
          </a:xfrm>
          <a:prstGeom prst="rect">
            <a:avLst/>
          </a:prstGeom>
          <a:noFill/>
        </p:spPr>
        <p:txBody>
          <a:bodyPr wrap="square">
            <a:spAutoFit/>
          </a:bodyPr>
          <a:lstStyle/>
          <a:p>
            <a:r>
              <a:rPr lang="en-US" dirty="0"/>
              <a:t>Find out more about </a:t>
            </a:r>
            <a:r>
              <a:rPr lang="en-US" dirty="0">
                <a:solidFill>
                  <a:schemeClr val="accent1"/>
                </a:solidFill>
                <a:hlinkClick r:id="rId5">
                  <a:extLst>
                    <a:ext uri="{A12FA001-AC4F-418D-AE19-62706E023703}">
                      <ahyp:hlinkClr xmlns:ahyp="http://schemas.microsoft.com/office/drawing/2018/hyperlinkcolor" val="tx"/>
                    </a:ext>
                  </a:extLst>
                </a:hlinkClick>
              </a:rPr>
              <a:t>The Carpentries Curricula</a:t>
            </a:r>
            <a:endParaRPr lang="en-US" dirty="0">
              <a:solidFill>
                <a:schemeClr val="accent1"/>
              </a:solidFill>
            </a:endParaRPr>
          </a:p>
        </p:txBody>
      </p:sp>
    </p:spTree>
    <p:extLst>
      <p:ext uri="{BB962C8B-B14F-4D97-AF65-F5344CB8AC3E}">
        <p14:creationId xmlns:p14="http://schemas.microsoft.com/office/powerpoint/2010/main" val="4063880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8"/>
          <p:cNvSpPr txBox="1">
            <a:spLocks noGrp="1"/>
          </p:cNvSpPr>
          <p:nvPr>
            <p:ph type="title"/>
          </p:nvPr>
        </p:nvSpPr>
        <p:spPr>
          <a:xfrm>
            <a:off x="322152" y="167488"/>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a:t>Learn by Doing</a:t>
            </a:r>
            <a:endParaRPr/>
          </a:p>
        </p:txBody>
      </p:sp>
      <p:sp>
        <p:nvSpPr>
          <p:cNvPr id="136" name="Google Shape;136;p18"/>
          <p:cNvSpPr txBox="1"/>
          <p:nvPr/>
        </p:nvSpPr>
        <p:spPr>
          <a:xfrm>
            <a:off x="238990" y="1493051"/>
            <a:ext cx="5520773" cy="4849837"/>
          </a:xfrm>
          <a:prstGeom prst="rect">
            <a:avLst/>
          </a:prstGeom>
          <a:noFill/>
          <a:ln w="38100" cap="flat" cmpd="sng">
            <a:noFill/>
            <a:prstDash val="solid"/>
            <a:round/>
            <a:headEnd type="none" w="sm" len="sm"/>
            <a:tailEnd type="none" w="sm" len="sm"/>
          </a:ln>
        </p:spPr>
        <p:txBody>
          <a:bodyPr spcFirstLastPara="1" wrap="square" lIns="91425" tIns="45700" rIns="91425" bIns="45700" anchor="ctr" anchorCtr="0">
            <a:noAutofit/>
          </a:bodyPr>
          <a:lstStyle/>
          <a:p>
            <a:pPr marL="285750" indent="-285750">
              <a:spcAft>
                <a:spcPts val="1200"/>
              </a:spcAft>
              <a:buClr>
                <a:schemeClr val="dk1"/>
              </a:buClr>
              <a:buSzPts val="2400"/>
              <a:buFont typeface="Calibri"/>
              <a:buChar char="•"/>
            </a:pPr>
            <a:r>
              <a:rPr lang="en-US" sz="2400" dirty="0">
                <a:solidFill>
                  <a:schemeClr val="dk1"/>
                </a:solidFill>
                <a:ea typeface="Calibri"/>
                <a:cs typeface="Calibri"/>
                <a:sym typeface="Calibri"/>
              </a:rPr>
              <a:t>Lessons have clearly stated learning objectives</a:t>
            </a:r>
            <a:endParaRPr lang="en-US" sz="2400" dirty="0"/>
          </a:p>
          <a:p>
            <a:pPr marL="285750" marR="0" lvl="0" indent="-285750" algn="l" rtl="0">
              <a:spcBef>
                <a:spcPts val="0"/>
              </a:spcBef>
              <a:spcAft>
                <a:spcPts val="1200"/>
              </a:spcAft>
              <a:buClr>
                <a:schemeClr val="dk1"/>
              </a:buClr>
              <a:buSzPts val="2400"/>
              <a:buFont typeface="Calibri"/>
              <a:buChar char="•"/>
            </a:pPr>
            <a:r>
              <a:rPr lang="en-US" sz="2400" dirty="0">
                <a:solidFill>
                  <a:schemeClr val="dk1"/>
                </a:solidFill>
                <a:ea typeface="Calibri"/>
                <a:cs typeface="Calibri"/>
                <a:sym typeface="Calibri"/>
              </a:rPr>
              <a:t>Workshop lessons assume that participants have NO previous coding experience</a:t>
            </a:r>
            <a:endParaRPr sz="2400" dirty="0"/>
          </a:p>
          <a:p>
            <a:pPr marL="285750" marR="0" lvl="0" indent="-285750" algn="l" rtl="0">
              <a:spcBef>
                <a:spcPts val="0"/>
              </a:spcBef>
              <a:spcAft>
                <a:spcPts val="1200"/>
              </a:spcAft>
              <a:buClr>
                <a:schemeClr val="dk1"/>
              </a:buClr>
              <a:buSzPts val="2400"/>
              <a:buFont typeface="Calibri"/>
              <a:buChar char="•"/>
            </a:pPr>
            <a:r>
              <a:rPr lang="en-US" sz="2400" dirty="0">
                <a:solidFill>
                  <a:schemeClr val="dk1"/>
                </a:solidFill>
                <a:ea typeface="Calibri"/>
                <a:cs typeface="Calibri"/>
                <a:sym typeface="Calibri"/>
              </a:rPr>
              <a:t>Learners follow along with live coding on their own device</a:t>
            </a:r>
            <a:endParaRPr sz="2400" dirty="0"/>
          </a:p>
          <a:p>
            <a:pPr marL="285750" marR="0" lvl="0" indent="-285750" algn="l" rtl="0">
              <a:spcBef>
                <a:spcPts val="0"/>
              </a:spcBef>
              <a:spcAft>
                <a:spcPts val="1200"/>
              </a:spcAft>
              <a:buClr>
                <a:schemeClr val="dk1"/>
              </a:buClr>
              <a:buSzPts val="2400"/>
              <a:buFont typeface="Calibri"/>
              <a:buChar char="•"/>
            </a:pPr>
            <a:r>
              <a:rPr lang="en-US" sz="2400" dirty="0">
                <a:solidFill>
                  <a:schemeClr val="dk1"/>
                </a:solidFill>
                <a:ea typeface="Calibri"/>
                <a:cs typeface="Calibri"/>
                <a:sym typeface="Calibri"/>
              </a:rPr>
              <a:t>Challenge exercises during sessions allow learners to apply what they learn</a:t>
            </a:r>
            <a:endParaRPr sz="2400" dirty="0"/>
          </a:p>
        </p:txBody>
      </p:sp>
      <p:sp>
        <p:nvSpPr>
          <p:cNvPr id="6" name="TextBox 5">
            <a:extLst>
              <a:ext uri="{FF2B5EF4-FFF2-40B4-BE49-F238E27FC236}">
                <a16:creationId xmlns:a16="http://schemas.microsoft.com/office/drawing/2014/main" id="{30216B49-72C2-E2AD-E5FD-8977170A3380}"/>
              </a:ext>
            </a:extLst>
          </p:cNvPr>
          <p:cNvSpPr txBox="1"/>
          <p:nvPr/>
        </p:nvSpPr>
        <p:spPr>
          <a:xfrm>
            <a:off x="6047510" y="6342888"/>
            <a:ext cx="5977550" cy="369332"/>
          </a:xfrm>
          <a:prstGeom prst="rect">
            <a:avLst/>
          </a:prstGeom>
          <a:noFill/>
        </p:spPr>
        <p:txBody>
          <a:bodyPr wrap="square" rtlCol="0">
            <a:spAutoFit/>
          </a:bodyPr>
          <a:lstStyle/>
          <a:p>
            <a:r>
              <a:rPr lang="en-US" i="1"/>
              <a:t>From </a:t>
            </a:r>
            <a:r>
              <a:rPr lang="en-US" i="1">
                <a:solidFill>
                  <a:srgbClr val="FA6400"/>
                </a:solidFill>
                <a:hlinkClick r:id="rId3"/>
              </a:rPr>
              <a:t>Data Analysis &amp; Visualization in R for Ecologists</a:t>
            </a:r>
            <a:endParaRPr lang="en-US" i="1">
              <a:solidFill>
                <a:srgbClr val="FA6400"/>
              </a:solidFill>
            </a:endParaRPr>
          </a:p>
        </p:txBody>
      </p:sp>
      <p:pic>
        <p:nvPicPr>
          <p:cNvPr id="2" name="Picture 1" descr="Sample Question and Objectives from the R for Ecologists' lesson. The question is about how R stores and represents data, with the objectives covering various aspects of that, including understanding vectors and working with factors.">
            <a:extLst>
              <a:ext uri="{FF2B5EF4-FFF2-40B4-BE49-F238E27FC236}">
                <a16:creationId xmlns:a16="http://schemas.microsoft.com/office/drawing/2014/main" id="{3468771A-80C0-D090-09E8-80C148C09600}"/>
              </a:ext>
            </a:extLst>
          </p:cNvPr>
          <p:cNvPicPr>
            <a:picLocks noChangeAspect="1"/>
          </p:cNvPicPr>
          <p:nvPr/>
        </p:nvPicPr>
        <p:blipFill>
          <a:blip r:embed="rId4"/>
          <a:stretch>
            <a:fillRect/>
          </a:stretch>
        </p:blipFill>
        <p:spPr>
          <a:xfrm>
            <a:off x="5759763" y="218208"/>
            <a:ext cx="6110085" cy="6078682"/>
          </a:xfrm>
          <a:prstGeom prst="rect">
            <a:avLst/>
          </a:prstGeom>
        </p:spPr>
      </p:pic>
    </p:spTree>
    <p:extLst>
      <p:ext uri="{BB962C8B-B14F-4D97-AF65-F5344CB8AC3E}">
        <p14:creationId xmlns:p14="http://schemas.microsoft.com/office/powerpoint/2010/main" val="2013390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31AD2-AF72-896D-4F98-783090B43B8B}"/>
              </a:ext>
            </a:extLst>
          </p:cNvPr>
          <p:cNvSpPr>
            <a:spLocks noGrp="1"/>
          </p:cNvSpPr>
          <p:nvPr>
            <p:ph type="title"/>
          </p:nvPr>
        </p:nvSpPr>
        <p:spPr>
          <a:xfrm>
            <a:off x="228600" y="365125"/>
            <a:ext cx="11125200" cy="850611"/>
          </a:xfrm>
        </p:spPr>
        <p:txBody>
          <a:bodyPr/>
          <a:lstStyle/>
          <a:p>
            <a:r>
              <a:rPr lang="en-US" dirty="0"/>
              <a:t>Local Carpentries Community</a:t>
            </a:r>
          </a:p>
        </p:txBody>
      </p:sp>
      <p:sp>
        <p:nvSpPr>
          <p:cNvPr id="3" name="Content Placeholder 2">
            <a:extLst>
              <a:ext uri="{FF2B5EF4-FFF2-40B4-BE49-F238E27FC236}">
                <a16:creationId xmlns:a16="http://schemas.microsoft.com/office/drawing/2014/main" id="{8384F824-C6F7-7C73-A09E-8F6766E19E6D}"/>
              </a:ext>
            </a:extLst>
          </p:cNvPr>
          <p:cNvSpPr>
            <a:spLocks noGrp="1"/>
          </p:cNvSpPr>
          <p:nvPr>
            <p:ph idx="1"/>
          </p:nvPr>
        </p:nvSpPr>
        <p:spPr>
          <a:xfrm>
            <a:off x="228601" y="1215736"/>
            <a:ext cx="11326090" cy="1558633"/>
          </a:xfrm>
        </p:spPr>
        <p:txBody>
          <a:bodyPr>
            <a:normAutofit/>
          </a:bodyPr>
          <a:lstStyle/>
          <a:p>
            <a:pPr>
              <a:spcAft>
                <a:spcPts val="1200"/>
              </a:spcAft>
            </a:pPr>
            <a:r>
              <a:rPr lang="en-US" b="1" dirty="0"/>
              <a:t>2015</a:t>
            </a:r>
            <a:r>
              <a:rPr lang="en-US" dirty="0"/>
              <a:t>: Oklahoma State University (OSU) starts offering Carpentries workshops</a:t>
            </a:r>
          </a:p>
          <a:p>
            <a:pPr>
              <a:spcAft>
                <a:spcPts val="1200"/>
              </a:spcAft>
            </a:pPr>
            <a:r>
              <a:rPr lang="en-US" b="1" dirty="0"/>
              <a:t>2017</a:t>
            </a:r>
            <a:r>
              <a:rPr lang="en-US" dirty="0"/>
              <a:t>: OSU becomes Carpentries member institution</a:t>
            </a:r>
          </a:p>
        </p:txBody>
      </p:sp>
      <p:sp>
        <p:nvSpPr>
          <p:cNvPr id="7" name="TextBox 6">
            <a:extLst>
              <a:ext uri="{FF2B5EF4-FFF2-40B4-BE49-F238E27FC236}">
                <a16:creationId xmlns:a16="http://schemas.microsoft.com/office/drawing/2014/main" id="{48DAB3CD-D985-5C52-37E6-2B0D3AADBA1C}"/>
              </a:ext>
            </a:extLst>
          </p:cNvPr>
          <p:cNvSpPr txBox="1"/>
          <p:nvPr/>
        </p:nvSpPr>
        <p:spPr>
          <a:xfrm>
            <a:off x="228600" y="2892581"/>
            <a:ext cx="7403328" cy="3693319"/>
          </a:xfrm>
          <a:prstGeom prst="rect">
            <a:avLst/>
          </a:prstGeom>
          <a:noFill/>
        </p:spPr>
        <p:txBody>
          <a:bodyPr wrap="square">
            <a:spAutoFit/>
          </a:bodyPr>
          <a:lstStyle/>
          <a:p>
            <a:pPr marL="228600" indent="-228600">
              <a:spcAft>
                <a:spcPts val="1200"/>
              </a:spcAft>
              <a:buFont typeface="Arial" panose="020B0604020202020204" pitchFamily="34" charset="0"/>
              <a:buChar char="•"/>
            </a:pPr>
            <a:r>
              <a:rPr lang="en-US" sz="2800" b="1" dirty="0"/>
              <a:t>2020</a:t>
            </a:r>
            <a:r>
              <a:rPr lang="en-US" sz="2800" dirty="0"/>
              <a:t>: OSU begins working with instructors from other nearby institutions—including UCO—to offer workshops more consistently and to a broader audience</a:t>
            </a:r>
          </a:p>
          <a:p>
            <a:pPr marL="228600" indent="-228600">
              <a:buFont typeface="Arial" panose="020B0604020202020204" pitchFamily="34" charset="0"/>
              <a:buChar char="•"/>
            </a:pPr>
            <a:r>
              <a:rPr lang="en-US" sz="2800" b="1" dirty="0"/>
              <a:t>2022</a:t>
            </a:r>
            <a:r>
              <a:rPr lang="en-US" sz="2800" dirty="0"/>
              <a:t>: OSU and UCO initiate collaboration</a:t>
            </a:r>
          </a:p>
          <a:p>
            <a:pPr marL="685800" lvl="2" indent="-228600">
              <a:buSzPct val="70000"/>
              <a:buFont typeface="Courier New" panose="02070309020205020404" pitchFamily="49" charset="0"/>
              <a:buChar char="o"/>
            </a:pPr>
            <a:r>
              <a:rPr lang="en-US" sz="2800" dirty="0"/>
              <a:t>28 workshop series, consisting of 73 individual sessions</a:t>
            </a:r>
          </a:p>
          <a:p>
            <a:pPr marL="685800" lvl="2" indent="-228600">
              <a:buSzPct val="70000"/>
              <a:buFont typeface="Courier New" panose="02070309020205020404" pitchFamily="49" charset="0"/>
              <a:buChar char="o"/>
            </a:pPr>
            <a:r>
              <a:rPr lang="en-US" sz="2800" dirty="0"/>
              <a:t>500+ attendees, mostly from OSU &amp; UCO</a:t>
            </a:r>
          </a:p>
        </p:txBody>
      </p:sp>
      <p:pic>
        <p:nvPicPr>
          <p:cNvPr id="12" name="Picture 11" descr="Blackboard with chalk lettering stating &quot;Thank you for learning local.&quot;">
            <a:extLst>
              <a:ext uri="{FF2B5EF4-FFF2-40B4-BE49-F238E27FC236}">
                <a16:creationId xmlns:a16="http://schemas.microsoft.com/office/drawing/2014/main" id="{AC7866FB-AD23-0BFA-AA15-DD6C012109A5}"/>
              </a:ext>
            </a:extLst>
          </p:cNvPr>
          <p:cNvPicPr>
            <a:picLocks noChangeAspect="1"/>
          </p:cNvPicPr>
          <p:nvPr/>
        </p:nvPicPr>
        <p:blipFill>
          <a:blip r:embed="rId3"/>
          <a:stretch>
            <a:fillRect/>
          </a:stretch>
        </p:blipFill>
        <p:spPr>
          <a:xfrm>
            <a:off x="7631928" y="3002011"/>
            <a:ext cx="4433559" cy="3057842"/>
          </a:xfrm>
          <a:prstGeom prst="rect">
            <a:avLst/>
          </a:prstGeom>
        </p:spPr>
      </p:pic>
      <p:sp>
        <p:nvSpPr>
          <p:cNvPr id="10" name="TextBox 9">
            <a:extLst>
              <a:ext uri="{FF2B5EF4-FFF2-40B4-BE49-F238E27FC236}">
                <a16:creationId xmlns:a16="http://schemas.microsoft.com/office/drawing/2014/main" id="{40EA17B4-F7C3-A82B-7A83-96A330A3D87B}"/>
              </a:ext>
            </a:extLst>
          </p:cNvPr>
          <p:cNvSpPr txBox="1"/>
          <p:nvPr/>
        </p:nvSpPr>
        <p:spPr>
          <a:xfrm>
            <a:off x="7040707" y="6550223"/>
            <a:ext cx="5151293" cy="307777"/>
          </a:xfrm>
          <a:prstGeom prst="rect">
            <a:avLst/>
          </a:prstGeom>
          <a:noFill/>
        </p:spPr>
        <p:txBody>
          <a:bodyPr wrap="square">
            <a:spAutoFit/>
          </a:bodyPr>
          <a:lstStyle/>
          <a:p>
            <a:r>
              <a:rPr lang="en-US" sz="1400" dirty="0"/>
              <a:t>Photo by </a:t>
            </a:r>
            <a:r>
              <a:rPr lang="en-US" sz="1400" dirty="0">
                <a:hlinkClick r:id="rId4"/>
              </a:rPr>
              <a:t>Tim Mossholder</a:t>
            </a:r>
            <a:r>
              <a:rPr lang="en-US" sz="1400" dirty="0"/>
              <a:t> on </a:t>
            </a:r>
            <a:r>
              <a:rPr lang="en-US" sz="1400" dirty="0" err="1">
                <a:hlinkClick r:id="rId5"/>
              </a:rPr>
              <a:t>Unsplash</a:t>
            </a:r>
            <a:r>
              <a:rPr lang="en-US" sz="1400" dirty="0"/>
              <a:t>; modified for presentation</a:t>
            </a:r>
          </a:p>
        </p:txBody>
      </p:sp>
    </p:spTree>
    <p:extLst>
      <p:ext uri="{BB962C8B-B14F-4D97-AF65-F5344CB8AC3E}">
        <p14:creationId xmlns:p14="http://schemas.microsoft.com/office/powerpoint/2010/main" val="2616281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9AE08-0E7F-4F57-6866-894B8D11E770}"/>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611317BD-B947-9E0F-2B54-42773D64E594}"/>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8" name="Rectangle 7">
            <a:extLst>
              <a:ext uri="{FF2B5EF4-FFF2-40B4-BE49-F238E27FC236}">
                <a16:creationId xmlns:a16="http://schemas.microsoft.com/office/drawing/2014/main" id="{E28411D8-1BAB-C13C-1EA4-DEE53CB7A617}"/>
              </a:ext>
              <a:ext uri="{C183D7F6-B498-43B3-948B-1728B52AA6E4}">
                <adec:decorative xmlns:adec="http://schemas.microsoft.com/office/drawing/2017/decorative" val="1"/>
              </a:ext>
            </a:extLst>
          </p:cNvPr>
          <p:cNvSpPr/>
          <p:nvPr/>
        </p:nvSpPr>
        <p:spPr>
          <a:xfrm>
            <a:off x="0" y="4125184"/>
            <a:ext cx="12192000" cy="178723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itle 3">
            <a:extLst>
              <a:ext uri="{FF2B5EF4-FFF2-40B4-BE49-F238E27FC236}">
                <a16:creationId xmlns:a16="http://schemas.microsoft.com/office/drawing/2014/main" id="{96CA8756-1144-80BD-743B-E5014673C9F2}"/>
              </a:ext>
            </a:extLst>
          </p:cNvPr>
          <p:cNvSpPr>
            <a:spLocks noGrp="1"/>
          </p:cNvSpPr>
          <p:nvPr>
            <p:ph type="title"/>
          </p:nvPr>
        </p:nvSpPr>
        <p:spPr>
          <a:xfrm>
            <a:off x="831850" y="2333186"/>
            <a:ext cx="10515600" cy="2852737"/>
          </a:xfrm>
        </p:spPr>
        <p:txBody>
          <a:bodyPr/>
          <a:lstStyle/>
          <a:p>
            <a:r>
              <a:rPr lang="en-US" dirty="0">
                <a:solidFill>
                  <a:schemeClr val="bg1"/>
                </a:solidFill>
              </a:rPr>
              <a:t>Identifying an Opportunity</a:t>
            </a:r>
          </a:p>
        </p:txBody>
      </p:sp>
      <p:sp>
        <p:nvSpPr>
          <p:cNvPr id="5" name="Text Placeholder 4">
            <a:extLst>
              <a:ext uri="{FF2B5EF4-FFF2-40B4-BE49-F238E27FC236}">
                <a16:creationId xmlns:a16="http://schemas.microsoft.com/office/drawing/2014/main" id="{D651BE10-F1CE-10F1-068D-7657ACB6AF8B}"/>
              </a:ext>
            </a:extLst>
          </p:cNvPr>
          <p:cNvSpPr>
            <a:spLocks noGrp="1"/>
          </p:cNvSpPr>
          <p:nvPr>
            <p:ph type="body" idx="1"/>
          </p:nvPr>
        </p:nvSpPr>
        <p:spPr>
          <a:xfrm>
            <a:off x="831849" y="5212911"/>
            <a:ext cx="11237191" cy="1500187"/>
          </a:xfrm>
        </p:spPr>
        <p:txBody>
          <a:bodyPr>
            <a:normAutofit/>
          </a:bodyPr>
          <a:lstStyle/>
          <a:p>
            <a:r>
              <a:rPr lang="en-US" sz="3200" dirty="0">
                <a:solidFill>
                  <a:schemeClr val="bg1"/>
                </a:solidFill>
              </a:rPr>
              <a:t>Enhancing the “Introduction to R and RStudio” workshop series</a:t>
            </a:r>
          </a:p>
        </p:txBody>
      </p:sp>
    </p:spTree>
    <p:extLst>
      <p:ext uri="{BB962C8B-B14F-4D97-AF65-F5344CB8AC3E}">
        <p14:creationId xmlns:p14="http://schemas.microsoft.com/office/powerpoint/2010/main" val="2929720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5" name="Rectangle 1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7" name="Rectangle 1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Rectangle 1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itle 4">
            <a:extLst>
              <a:ext uri="{FF2B5EF4-FFF2-40B4-BE49-F238E27FC236}">
                <a16:creationId xmlns:a16="http://schemas.microsoft.com/office/drawing/2014/main" id="{85F4DA0C-7044-4292-F994-D0EF44667AC5}"/>
              </a:ext>
            </a:extLst>
          </p:cNvPr>
          <p:cNvSpPr>
            <a:spLocks noGrp="1"/>
          </p:cNvSpPr>
          <p:nvPr>
            <p:ph type="title"/>
          </p:nvPr>
        </p:nvSpPr>
        <p:spPr>
          <a:xfrm>
            <a:off x="354725" y="294538"/>
            <a:ext cx="10912826" cy="1033669"/>
          </a:xfrm>
        </p:spPr>
        <p:txBody>
          <a:bodyPr>
            <a:normAutofit/>
          </a:bodyPr>
          <a:lstStyle/>
          <a:p>
            <a:r>
              <a:rPr lang="en-US" dirty="0">
                <a:solidFill>
                  <a:srgbClr val="FFFFFF"/>
                </a:solidFill>
              </a:rPr>
              <a:t>What challenges were we confronting?</a:t>
            </a:r>
          </a:p>
        </p:txBody>
      </p:sp>
      <p:sp>
        <p:nvSpPr>
          <p:cNvPr id="6" name="Content Placeholder 5">
            <a:extLst>
              <a:ext uri="{FF2B5EF4-FFF2-40B4-BE49-F238E27FC236}">
                <a16:creationId xmlns:a16="http://schemas.microsoft.com/office/drawing/2014/main" id="{55768C51-21F0-9748-F351-7085C3E282F6}"/>
              </a:ext>
            </a:extLst>
          </p:cNvPr>
          <p:cNvSpPr>
            <a:spLocks noGrp="1"/>
          </p:cNvSpPr>
          <p:nvPr>
            <p:ph idx="1"/>
          </p:nvPr>
        </p:nvSpPr>
        <p:spPr>
          <a:xfrm>
            <a:off x="542611" y="2090056"/>
            <a:ext cx="10972800" cy="4473405"/>
          </a:xfrm>
        </p:spPr>
        <p:txBody>
          <a:bodyPr anchor="ctr">
            <a:normAutofit/>
          </a:bodyPr>
          <a:lstStyle/>
          <a:p>
            <a:pPr>
              <a:spcAft>
                <a:spcPts val="1800"/>
              </a:spcAft>
            </a:pPr>
            <a:r>
              <a:rPr lang="en-US" dirty="0"/>
              <a:t>Engagement and attendance in Carpentries workshop series usually starts strong, but decreases with subsequent sessions</a:t>
            </a:r>
          </a:p>
          <a:p>
            <a:pPr>
              <a:spcAft>
                <a:spcPts val="1800"/>
              </a:spcAft>
            </a:pPr>
            <a:r>
              <a:rPr lang="en-US" dirty="0"/>
              <a:t>Learners began requesting practice problems to work on between sessions so they could apply what they learned and reinforce new concepts</a:t>
            </a:r>
          </a:p>
          <a:p>
            <a:pPr marL="0" indent="0">
              <a:buNone/>
            </a:pPr>
            <a:endParaRPr lang="en-US" dirty="0"/>
          </a:p>
          <a:p>
            <a:pPr marL="0" indent="0">
              <a:buNone/>
            </a:pPr>
            <a:r>
              <a:rPr lang="en-US" dirty="0"/>
              <a:t>And so…we started thinking about solutions</a:t>
            </a:r>
          </a:p>
        </p:txBody>
      </p:sp>
    </p:spTree>
    <p:extLst>
      <p:ext uri="{BB962C8B-B14F-4D97-AF65-F5344CB8AC3E}">
        <p14:creationId xmlns:p14="http://schemas.microsoft.com/office/powerpoint/2010/main" val="27168668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2F772-BAC7-E8A8-6ADD-20B5CECB2181}"/>
              </a:ext>
            </a:extLst>
          </p:cNvPr>
          <p:cNvSpPr>
            <a:spLocks noGrp="1"/>
          </p:cNvSpPr>
          <p:nvPr>
            <p:ph type="title"/>
          </p:nvPr>
        </p:nvSpPr>
        <p:spPr/>
        <p:txBody>
          <a:bodyPr/>
          <a:lstStyle/>
          <a:p>
            <a:r>
              <a:rPr lang="en-US" dirty="0"/>
              <a:t>Why a micro-credential?</a:t>
            </a:r>
          </a:p>
        </p:txBody>
      </p:sp>
      <p:sp>
        <p:nvSpPr>
          <p:cNvPr id="3" name="Content Placeholder 2">
            <a:extLst>
              <a:ext uri="{FF2B5EF4-FFF2-40B4-BE49-F238E27FC236}">
                <a16:creationId xmlns:a16="http://schemas.microsoft.com/office/drawing/2014/main" id="{E47CEF08-BC0F-DE21-D162-B1B737C4502F}"/>
              </a:ext>
            </a:extLst>
          </p:cNvPr>
          <p:cNvSpPr>
            <a:spLocks noGrp="1"/>
          </p:cNvSpPr>
          <p:nvPr>
            <p:ph idx="1"/>
          </p:nvPr>
        </p:nvSpPr>
        <p:spPr>
          <a:xfrm>
            <a:off x="838201" y="1825624"/>
            <a:ext cx="10515600" cy="4567971"/>
          </a:xfrm>
        </p:spPr>
        <p:txBody>
          <a:bodyPr anchor="ctr">
            <a:normAutofit lnSpcReduction="10000"/>
          </a:bodyPr>
          <a:lstStyle/>
          <a:p>
            <a:r>
              <a:rPr lang="en-US" dirty="0"/>
              <a:t>Create opportunities for learners to engage with and apply workshop content between sessions (independent practice)</a:t>
            </a:r>
          </a:p>
          <a:p>
            <a:pPr lvl="1">
              <a:spcAft>
                <a:spcPts val="1800"/>
              </a:spcAft>
              <a:buSzPct val="75000"/>
              <a:buFont typeface="Courier New" panose="02070309020205020404" pitchFamily="49" charset="0"/>
              <a:buChar char="o"/>
            </a:pPr>
            <a:r>
              <a:rPr lang="en-US" sz="2600" dirty="0"/>
              <a:t>Selected workshop series with larger instructor pool that is consistently offered each semester</a:t>
            </a:r>
          </a:p>
          <a:p>
            <a:r>
              <a:rPr lang="en-US" dirty="0"/>
              <a:t>Reward extra effort by connecting workshop participation and independent practice to create a micro-credential</a:t>
            </a:r>
          </a:p>
          <a:p>
            <a:pPr lvl="1">
              <a:spcAft>
                <a:spcPts val="1800"/>
              </a:spcAft>
              <a:buSzPct val="75000"/>
              <a:buFont typeface="Courier New" panose="02070309020205020404" pitchFamily="49" charset="0"/>
              <a:buChar char="o"/>
            </a:pPr>
            <a:r>
              <a:rPr lang="en-US" sz="2600" dirty="0"/>
              <a:t>Attendance at all 3 workshop sessions + submission of 3 sets of practice problems and reflections = micro-credential badge</a:t>
            </a:r>
          </a:p>
          <a:p>
            <a:r>
              <a:rPr lang="en-US" dirty="0"/>
              <a:t>Learners can use micro-credential badge to convey they have gained basic knowledge in R and RStudio </a:t>
            </a:r>
          </a:p>
        </p:txBody>
      </p:sp>
      <p:pic>
        <p:nvPicPr>
          <p:cNvPr id="6" name="Picture 5" descr="Micro-credential badge icon from UCO titled &quot;Basics of R &amp; RStudio.&quot;">
            <a:extLst>
              <a:ext uri="{FF2B5EF4-FFF2-40B4-BE49-F238E27FC236}">
                <a16:creationId xmlns:a16="http://schemas.microsoft.com/office/drawing/2014/main" id="{6CD0A7A4-894C-A3F1-B20B-8057174CC330}"/>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9870305" y="95072"/>
            <a:ext cx="2249776" cy="2249776"/>
          </a:xfrm>
          <a:prstGeom prst="rect">
            <a:avLst/>
          </a:prstGeom>
        </p:spPr>
      </p:pic>
      <p:sp>
        <p:nvSpPr>
          <p:cNvPr id="7" name="TextBox 6">
            <a:extLst>
              <a:ext uri="{FF2B5EF4-FFF2-40B4-BE49-F238E27FC236}">
                <a16:creationId xmlns:a16="http://schemas.microsoft.com/office/drawing/2014/main" id="{805BF6C8-724D-9BAA-FB5F-F0B5FE510F69}"/>
              </a:ext>
            </a:extLst>
          </p:cNvPr>
          <p:cNvSpPr txBox="1"/>
          <p:nvPr/>
        </p:nvSpPr>
        <p:spPr>
          <a:xfrm>
            <a:off x="8469466" y="6393596"/>
            <a:ext cx="3650615" cy="369332"/>
          </a:xfrm>
          <a:prstGeom prst="rect">
            <a:avLst/>
          </a:prstGeom>
          <a:noFill/>
        </p:spPr>
        <p:txBody>
          <a:bodyPr wrap="none" rtlCol="0">
            <a:spAutoFit/>
          </a:bodyPr>
          <a:lstStyle/>
          <a:p>
            <a:r>
              <a:rPr lang="en-US" dirty="0">
                <a:hlinkClick r:id="rId4"/>
              </a:rPr>
              <a:t>Basics of R &amp; RStudio </a:t>
            </a:r>
            <a:r>
              <a:rPr lang="en-US" dirty="0" err="1">
                <a:hlinkClick r:id="rId4"/>
              </a:rPr>
              <a:t>Credly</a:t>
            </a:r>
            <a:r>
              <a:rPr lang="en-US" dirty="0">
                <a:hlinkClick r:id="rId4"/>
              </a:rPr>
              <a:t> Badge</a:t>
            </a:r>
            <a:endParaRPr lang="en-US" dirty="0"/>
          </a:p>
        </p:txBody>
      </p:sp>
    </p:spTree>
    <p:extLst>
      <p:ext uri="{BB962C8B-B14F-4D97-AF65-F5344CB8AC3E}">
        <p14:creationId xmlns:p14="http://schemas.microsoft.com/office/powerpoint/2010/main" val="2423768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F8BBC-DDC1-B164-F702-D801C55079F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04854C9-6768-E513-7356-DF1FBDBD6BAC}"/>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8" name="Rectangle 7">
            <a:extLst>
              <a:ext uri="{FF2B5EF4-FFF2-40B4-BE49-F238E27FC236}">
                <a16:creationId xmlns:a16="http://schemas.microsoft.com/office/drawing/2014/main" id="{55538D8C-B51E-1FDF-FBC4-6940A5F84A74}"/>
              </a:ext>
              <a:ext uri="{C183D7F6-B498-43B3-948B-1728B52AA6E4}">
                <adec:decorative xmlns:adec="http://schemas.microsoft.com/office/drawing/2017/decorative" val="1"/>
              </a:ext>
            </a:extLst>
          </p:cNvPr>
          <p:cNvSpPr/>
          <p:nvPr/>
        </p:nvSpPr>
        <p:spPr>
          <a:xfrm>
            <a:off x="0" y="4125184"/>
            <a:ext cx="12192000" cy="178723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itle 3">
            <a:extLst>
              <a:ext uri="{FF2B5EF4-FFF2-40B4-BE49-F238E27FC236}">
                <a16:creationId xmlns:a16="http://schemas.microsoft.com/office/drawing/2014/main" id="{212F78EF-EC50-9944-B4EF-3996FFA3149E}"/>
              </a:ext>
            </a:extLst>
          </p:cNvPr>
          <p:cNvSpPr>
            <a:spLocks noGrp="1"/>
          </p:cNvSpPr>
          <p:nvPr>
            <p:ph type="title"/>
          </p:nvPr>
        </p:nvSpPr>
        <p:spPr>
          <a:xfrm>
            <a:off x="831850" y="2333186"/>
            <a:ext cx="10515600" cy="2852737"/>
          </a:xfrm>
        </p:spPr>
        <p:txBody>
          <a:bodyPr/>
          <a:lstStyle/>
          <a:p>
            <a:r>
              <a:rPr lang="en-US" dirty="0">
                <a:solidFill>
                  <a:schemeClr val="bg1"/>
                </a:solidFill>
              </a:rPr>
              <a:t>Creating the Micro-Credential</a:t>
            </a:r>
          </a:p>
        </p:txBody>
      </p:sp>
      <p:sp>
        <p:nvSpPr>
          <p:cNvPr id="5" name="Text Placeholder 4">
            <a:extLst>
              <a:ext uri="{FF2B5EF4-FFF2-40B4-BE49-F238E27FC236}">
                <a16:creationId xmlns:a16="http://schemas.microsoft.com/office/drawing/2014/main" id="{E4845FF5-516C-62C2-D4D9-7EB69264AADE}"/>
              </a:ext>
            </a:extLst>
          </p:cNvPr>
          <p:cNvSpPr>
            <a:spLocks noGrp="1"/>
          </p:cNvSpPr>
          <p:nvPr>
            <p:ph type="body" idx="1"/>
          </p:nvPr>
        </p:nvSpPr>
        <p:spPr>
          <a:xfrm>
            <a:off x="831849" y="5212911"/>
            <a:ext cx="11237191" cy="1500187"/>
          </a:xfrm>
        </p:spPr>
        <p:txBody>
          <a:bodyPr>
            <a:normAutofit/>
          </a:bodyPr>
          <a:lstStyle/>
          <a:p>
            <a:r>
              <a:rPr lang="en-US" sz="3200" dirty="0">
                <a:solidFill>
                  <a:schemeClr val="bg1"/>
                </a:solidFill>
              </a:rPr>
              <a:t>Application, Effort, and Evaluation</a:t>
            </a:r>
          </a:p>
        </p:txBody>
      </p:sp>
    </p:spTree>
    <p:extLst>
      <p:ext uri="{BB962C8B-B14F-4D97-AF65-F5344CB8AC3E}">
        <p14:creationId xmlns:p14="http://schemas.microsoft.com/office/powerpoint/2010/main" val="1246799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0928F1-44A9-BC21-7727-609120AC3285}"/>
              </a:ext>
            </a:extLst>
          </p:cNvPr>
          <p:cNvSpPr>
            <a:spLocks noGrp="1"/>
          </p:cNvSpPr>
          <p:nvPr>
            <p:ph type="title"/>
          </p:nvPr>
        </p:nvSpPr>
        <p:spPr/>
        <p:txBody>
          <a:bodyPr/>
          <a:lstStyle/>
          <a:p>
            <a:r>
              <a:rPr lang="en-US" dirty="0"/>
              <a:t>R Markdown as the Tool</a:t>
            </a:r>
          </a:p>
        </p:txBody>
      </p:sp>
      <p:sp>
        <p:nvSpPr>
          <p:cNvPr id="5" name="Content Placeholder 4">
            <a:extLst>
              <a:ext uri="{FF2B5EF4-FFF2-40B4-BE49-F238E27FC236}">
                <a16:creationId xmlns:a16="http://schemas.microsoft.com/office/drawing/2014/main" id="{6276886A-968E-8956-8337-E079F1530431}"/>
              </a:ext>
            </a:extLst>
          </p:cNvPr>
          <p:cNvSpPr>
            <a:spLocks noGrp="1"/>
          </p:cNvSpPr>
          <p:nvPr>
            <p:ph idx="1"/>
          </p:nvPr>
        </p:nvSpPr>
        <p:spPr>
          <a:xfrm>
            <a:off x="613750" y="1825625"/>
            <a:ext cx="10964501" cy="4351338"/>
          </a:xfrm>
        </p:spPr>
        <p:txBody>
          <a:bodyPr anchor="ctr">
            <a:normAutofit/>
          </a:bodyPr>
          <a:lstStyle/>
          <a:p>
            <a:pPr>
              <a:spcAft>
                <a:spcPts val="1800"/>
              </a:spcAft>
            </a:pPr>
            <a:r>
              <a:rPr lang="en-US" dirty="0"/>
              <a:t>Computational notebook that combines narrative text and code into a single file, exportable as HTML, PDF, etc.</a:t>
            </a:r>
          </a:p>
          <a:p>
            <a:r>
              <a:rPr lang="en-US" dirty="0"/>
              <a:t>Rendering options for code chunks enable flexibility to show or hide code and results (such as figures) from final output</a:t>
            </a:r>
          </a:p>
          <a:p>
            <a:pPr lvl="1">
              <a:spcAft>
                <a:spcPts val="1800"/>
              </a:spcAft>
              <a:buSzPct val="75000"/>
              <a:buFont typeface="Courier New" panose="02070309020205020404" pitchFamily="49" charset="0"/>
              <a:buChar char="o"/>
            </a:pPr>
            <a:r>
              <a:rPr lang="en-US" sz="2800" dirty="0"/>
              <a:t>Helpful for easily producing practice problems and answer keys</a:t>
            </a:r>
          </a:p>
          <a:p>
            <a:pPr>
              <a:buSzPct val="100000"/>
            </a:pPr>
            <a:r>
              <a:rPr lang="en-US" dirty="0"/>
              <a:t>Markdown formatting for headings, lists, and URLs helped make documents accessible</a:t>
            </a:r>
          </a:p>
          <a:p>
            <a:pPr lvl="1">
              <a:buSzPct val="75000"/>
              <a:buFont typeface="Courier New" panose="02070309020205020404" pitchFamily="49" charset="0"/>
              <a:buChar char="o"/>
            </a:pPr>
            <a:r>
              <a:rPr lang="en-US" sz="2600" dirty="0"/>
              <a:t>Also possible to include </a:t>
            </a:r>
            <a:r>
              <a:rPr lang="en-US" sz="2600" dirty="0" err="1"/>
              <a:t>fig.alt</a:t>
            </a:r>
            <a:r>
              <a:rPr lang="en-US" sz="2600" dirty="0"/>
              <a:t> as a code chunk option to embed alt text</a:t>
            </a:r>
          </a:p>
        </p:txBody>
      </p:sp>
    </p:spTree>
    <p:extLst>
      <p:ext uri="{BB962C8B-B14F-4D97-AF65-F5344CB8AC3E}">
        <p14:creationId xmlns:p14="http://schemas.microsoft.com/office/powerpoint/2010/main" val="3397731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1A05C0-90D2-918D-8512-75231C632860}"/>
              </a:ext>
            </a:extLst>
          </p:cNvPr>
          <p:cNvSpPr>
            <a:spLocks noGrp="1"/>
          </p:cNvSpPr>
          <p:nvPr>
            <p:ph type="title"/>
          </p:nvPr>
        </p:nvSpPr>
        <p:spPr>
          <a:xfrm>
            <a:off x="1043631" y="809898"/>
            <a:ext cx="9942716" cy="1554480"/>
          </a:xfrm>
        </p:spPr>
        <p:txBody>
          <a:bodyPr anchor="ctr">
            <a:normAutofit/>
          </a:bodyPr>
          <a:lstStyle/>
          <a:p>
            <a:r>
              <a:rPr lang="en-US" sz="4800"/>
              <a:t>Our reservations and considerations</a:t>
            </a:r>
          </a:p>
        </p:txBody>
      </p:sp>
      <p:sp>
        <p:nvSpPr>
          <p:cNvPr id="3" name="Content Placeholder 2">
            <a:extLst>
              <a:ext uri="{FF2B5EF4-FFF2-40B4-BE49-F238E27FC236}">
                <a16:creationId xmlns:a16="http://schemas.microsoft.com/office/drawing/2014/main" id="{7B85F6EE-07E6-3B6B-E4A6-83DC72F40905}"/>
              </a:ext>
            </a:extLst>
          </p:cNvPr>
          <p:cNvSpPr>
            <a:spLocks noGrp="1"/>
          </p:cNvSpPr>
          <p:nvPr>
            <p:ph idx="1"/>
          </p:nvPr>
        </p:nvSpPr>
        <p:spPr>
          <a:xfrm>
            <a:off x="1045028" y="3017522"/>
            <a:ext cx="9941319" cy="3124658"/>
          </a:xfrm>
        </p:spPr>
        <p:txBody>
          <a:bodyPr anchor="ctr">
            <a:normAutofit/>
          </a:bodyPr>
          <a:lstStyle/>
          <a:p>
            <a:pPr marL="514350" indent="-514350">
              <a:spcAft>
                <a:spcPts val="1200"/>
              </a:spcAft>
              <a:buFont typeface="+mj-lt"/>
              <a:buAutoNum type="arabicPeriod"/>
            </a:pPr>
            <a:r>
              <a:rPr lang="en-US" dirty="0"/>
              <a:t>Amount of extra work for learners</a:t>
            </a:r>
          </a:p>
          <a:p>
            <a:pPr marL="514350" indent="-514350">
              <a:spcAft>
                <a:spcPts val="1200"/>
              </a:spcAft>
              <a:buFont typeface="+mj-lt"/>
              <a:buAutoNum type="arabicPeriod"/>
            </a:pPr>
            <a:r>
              <a:rPr lang="en-US" dirty="0"/>
              <a:t>Amount of extra work for instructors</a:t>
            </a:r>
          </a:p>
          <a:p>
            <a:pPr marL="514350" indent="-514350">
              <a:spcAft>
                <a:spcPts val="1200"/>
              </a:spcAft>
              <a:buFont typeface="+mj-lt"/>
              <a:buAutoNum type="arabicPeriod"/>
            </a:pPr>
            <a:r>
              <a:rPr lang="en-US" dirty="0"/>
              <a:t>Workshop content + assessment pieces = relevant and meaningful experience for learners</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9378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43EB0-9C17-56B9-4AA3-40D84364183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1BA96F1-BB3B-FD00-E51F-F2754B3E6F33}"/>
              </a:ext>
            </a:extLst>
          </p:cNvPr>
          <p:cNvSpPr>
            <a:spLocks noGrp="1"/>
          </p:cNvSpPr>
          <p:nvPr>
            <p:ph type="title"/>
          </p:nvPr>
        </p:nvSpPr>
        <p:spPr>
          <a:xfrm>
            <a:off x="663103" y="365125"/>
            <a:ext cx="6029528" cy="1325563"/>
          </a:xfrm>
        </p:spPr>
        <p:txBody>
          <a:bodyPr>
            <a:normAutofit/>
          </a:bodyPr>
          <a:lstStyle/>
          <a:p>
            <a:r>
              <a:rPr lang="en-US" sz="4200" b="1" dirty="0"/>
              <a:t>A Brief AI Interlude: </a:t>
            </a:r>
            <a:br>
              <a:rPr lang="en-US" sz="4200" b="1" dirty="0"/>
            </a:br>
            <a:r>
              <a:rPr lang="en-US" sz="4200" dirty="0"/>
              <a:t>Initial Concerns</a:t>
            </a:r>
          </a:p>
        </p:txBody>
      </p:sp>
      <p:sp>
        <p:nvSpPr>
          <p:cNvPr id="8" name="Content Placeholder 7">
            <a:extLst>
              <a:ext uri="{FF2B5EF4-FFF2-40B4-BE49-F238E27FC236}">
                <a16:creationId xmlns:a16="http://schemas.microsoft.com/office/drawing/2014/main" id="{074B74F5-A8EC-09D3-2684-A9FD274892E2}"/>
              </a:ext>
            </a:extLst>
          </p:cNvPr>
          <p:cNvSpPr>
            <a:spLocks noGrp="1"/>
          </p:cNvSpPr>
          <p:nvPr>
            <p:ph idx="1"/>
          </p:nvPr>
        </p:nvSpPr>
        <p:spPr>
          <a:xfrm>
            <a:off x="342090" y="1776986"/>
            <a:ext cx="6671554" cy="4935099"/>
          </a:xfrm>
        </p:spPr>
        <p:txBody>
          <a:bodyPr>
            <a:noAutofit/>
          </a:bodyPr>
          <a:lstStyle/>
          <a:p>
            <a:pPr>
              <a:spcAft>
                <a:spcPts val="1200"/>
              </a:spcAft>
            </a:pPr>
            <a:r>
              <a:rPr lang="en-US" sz="2400" dirty="0"/>
              <a:t>Wanted micro-credential to represent actual learner effort and not AI-generated code</a:t>
            </a:r>
          </a:p>
          <a:p>
            <a:r>
              <a:rPr lang="en-US" sz="2400" dirty="0"/>
              <a:t>Uncertain how to flag potential AI use in practice problems</a:t>
            </a:r>
          </a:p>
          <a:p>
            <a:pPr lvl="1">
              <a:spcAft>
                <a:spcPts val="1200"/>
              </a:spcAft>
            </a:pPr>
            <a:r>
              <a:rPr lang="en-US" dirty="0"/>
              <a:t>Distinguishing between using </a:t>
            </a:r>
            <a:r>
              <a:rPr lang="en-US" b="1" dirty="0"/>
              <a:t>AI to learn </a:t>
            </a:r>
            <a:r>
              <a:rPr lang="en-US" dirty="0"/>
              <a:t>VS as an </a:t>
            </a:r>
            <a:r>
              <a:rPr lang="en-US" b="1" dirty="0"/>
              <a:t>answer generator</a:t>
            </a:r>
            <a:endParaRPr lang="en-US" dirty="0"/>
          </a:p>
          <a:p>
            <a:r>
              <a:rPr lang="en-US" sz="2400" dirty="0"/>
              <a:t>Carpentries lesson includes </a:t>
            </a:r>
            <a:r>
              <a:rPr lang="en-US" sz="2400" dirty="0">
                <a:hlinkClick r:id="rId3"/>
              </a:rPr>
              <a:t>brief discussion of generative AI help</a:t>
            </a:r>
            <a:endParaRPr lang="en-US" sz="2400" dirty="0"/>
          </a:p>
          <a:p>
            <a:pPr lvl="1"/>
            <a:r>
              <a:rPr lang="en-US" dirty="0"/>
              <a:t>Emphasis on importance of errors and troubleshooting as learning opportunities</a:t>
            </a:r>
          </a:p>
          <a:p>
            <a:pPr lvl="1"/>
            <a:r>
              <a:rPr lang="en-US" dirty="0"/>
              <a:t>Foundational knowledge essential to evaluate code from other sources</a:t>
            </a:r>
          </a:p>
        </p:txBody>
      </p:sp>
      <p:pic>
        <p:nvPicPr>
          <p:cNvPr id="3" name="Picture 2">
            <a:extLst>
              <a:ext uri="{FF2B5EF4-FFF2-40B4-BE49-F238E27FC236}">
                <a16:creationId xmlns:a16="http://schemas.microsoft.com/office/drawing/2014/main" id="{0EE3AB86-2BF1-8517-7B6E-A81FBC3320AD}"/>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278624" y="0"/>
            <a:ext cx="4913376" cy="6858000"/>
          </a:xfrm>
          <a:prstGeom prst="rect">
            <a:avLst/>
          </a:prstGeom>
        </p:spPr>
      </p:pic>
    </p:spTree>
    <p:extLst>
      <p:ext uri="{BB962C8B-B14F-4D97-AF65-F5344CB8AC3E}">
        <p14:creationId xmlns:p14="http://schemas.microsoft.com/office/powerpoint/2010/main" val="20586002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09B9D-EEDC-6742-DFA1-20648636B3B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174E6BA-17C9-612E-4EC3-0A28ECC2CE2E}"/>
              </a:ext>
            </a:extLst>
          </p:cNvPr>
          <p:cNvSpPr>
            <a:spLocks noGrp="1"/>
          </p:cNvSpPr>
          <p:nvPr>
            <p:ph type="title"/>
          </p:nvPr>
        </p:nvSpPr>
        <p:spPr>
          <a:xfrm>
            <a:off x="5272061" y="239673"/>
            <a:ext cx="6352162" cy="1325563"/>
          </a:xfrm>
        </p:spPr>
        <p:txBody>
          <a:bodyPr>
            <a:normAutofit/>
          </a:bodyPr>
          <a:lstStyle/>
          <a:p>
            <a:r>
              <a:rPr lang="en-US" b="1" dirty="0"/>
              <a:t>A Brief AI Interlude: </a:t>
            </a:r>
            <a:br>
              <a:rPr lang="en-US" b="1" dirty="0"/>
            </a:br>
            <a:r>
              <a:rPr lang="en-US" dirty="0"/>
              <a:t>AI and Assessment</a:t>
            </a:r>
          </a:p>
        </p:txBody>
      </p:sp>
      <p:sp>
        <p:nvSpPr>
          <p:cNvPr id="8" name="Content Placeholder 7">
            <a:extLst>
              <a:ext uri="{FF2B5EF4-FFF2-40B4-BE49-F238E27FC236}">
                <a16:creationId xmlns:a16="http://schemas.microsoft.com/office/drawing/2014/main" id="{118DE414-F164-E70A-C8CA-75FFDD1D358D}"/>
              </a:ext>
            </a:extLst>
          </p:cNvPr>
          <p:cNvSpPr>
            <a:spLocks noGrp="1"/>
          </p:cNvSpPr>
          <p:nvPr>
            <p:ph idx="1"/>
          </p:nvPr>
        </p:nvSpPr>
        <p:spPr>
          <a:xfrm>
            <a:off x="5272061" y="1641087"/>
            <a:ext cx="6638853" cy="4977240"/>
          </a:xfrm>
        </p:spPr>
        <p:txBody>
          <a:bodyPr>
            <a:normAutofit lnSpcReduction="10000"/>
          </a:bodyPr>
          <a:lstStyle/>
          <a:p>
            <a:r>
              <a:rPr lang="en-US" sz="2400" dirty="0"/>
              <a:t>Scrutinizing submitted responses would not necessarily reveal generative AI use</a:t>
            </a:r>
          </a:p>
          <a:p>
            <a:pPr lvl="1"/>
            <a:r>
              <a:rPr lang="en-US" sz="2400" dirty="0"/>
              <a:t>Often multiple ways to code to reach the same solution</a:t>
            </a:r>
          </a:p>
          <a:p>
            <a:pPr lvl="1">
              <a:spcAft>
                <a:spcPts val="1200"/>
              </a:spcAft>
            </a:pPr>
            <a:r>
              <a:rPr lang="en-US" sz="2400" dirty="0"/>
              <a:t>Time intensive and unreliable to flag potential AI use</a:t>
            </a:r>
          </a:p>
          <a:p>
            <a:pPr>
              <a:spcAft>
                <a:spcPts val="1200"/>
              </a:spcAft>
            </a:pPr>
            <a:r>
              <a:rPr lang="en-US" sz="2400" dirty="0"/>
              <a:t>Realized that objectives for micro-credential were not precision use of R, but application of lesson material in new contexts &amp; continued use of R</a:t>
            </a:r>
          </a:p>
          <a:p>
            <a:r>
              <a:rPr lang="en-US" sz="2400" b="1" dirty="0"/>
              <a:t>Our job as instructors is to provide the tools and environment to learn</a:t>
            </a:r>
          </a:p>
          <a:p>
            <a:pPr lvl="1"/>
            <a:r>
              <a:rPr lang="en-US" sz="2400" b="1" dirty="0"/>
              <a:t>Learners themselves decide to what extent they commit to learning</a:t>
            </a:r>
          </a:p>
        </p:txBody>
      </p:sp>
      <p:pic>
        <p:nvPicPr>
          <p:cNvPr id="4" name="Picture 3">
            <a:extLst>
              <a:ext uri="{FF2B5EF4-FFF2-40B4-BE49-F238E27FC236}">
                <a16:creationId xmlns:a16="http://schemas.microsoft.com/office/drawing/2014/main" id="{DAA18E59-A8C8-C9F8-5CA8-0CA752F12AC5}"/>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0" y="0"/>
            <a:ext cx="4911047" cy="6858000"/>
          </a:xfrm>
          <a:prstGeom prst="rect">
            <a:avLst/>
          </a:prstGeom>
        </p:spPr>
      </p:pic>
    </p:spTree>
    <p:extLst>
      <p:ext uri="{BB962C8B-B14F-4D97-AF65-F5344CB8AC3E}">
        <p14:creationId xmlns:p14="http://schemas.microsoft.com/office/powerpoint/2010/main" val="17479980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96380-5B94-EDB2-5A08-0462F8310CF7}"/>
              </a:ext>
            </a:extLst>
          </p:cNvPr>
          <p:cNvSpPr>
            <a:spLocks noGrp="1"/>
          </p:cNvSpPr>
          <p:nvPr>
            <p:ph type="title"/>
          </p:nvPr>
        </p:nvSpPr>
        <p:spPr/>
        <p:txBody>
          <a:bodyPr/>
          <a:lstStyle/>
          <a:p>
            <a:r>
              <a:rPr lang="en-US" b="1"/>
              <a:t>Outcomes</a:t>
            </a:r>
            <a:r>
              <a:rPr lang="en-US"/>
              <a:t>: Learner Workload</a:t>
            </a:r>
          </a:p>
        </p:txBody>
      </p:sp>
      <p:sp>
        <p:nvSpPr>
          <p:cNvPr id="5" name="Text Placeholder 4">
            <a:extLst>
              <a:ext uri="{FF2B5EF4-FFF2-40B4-BE49-F238E27FC236}">
                <a16:creationId xmlns:a16="http://schemas.microsoft.com/office/drawing/2014/main" id="{3A5C840C-8A3D-F118-F6DC-4DE7B8F11A62}"/>
              </a:ext>
            </a:extLst>
          </p:cNvPr>
          <p:cNvSpPr>
            <a:spLocks noGrp="1"/>
          </p:cNvSpPr>
          <p:nvPr>
            <p:ph type="body" idx="1"/>
          </p:nvPr>
        </p:nvSpPr>
        <p:spPr>
          <a:xfrm>
            <a:off x="805790" y="1627224"/>
            <a:ext cx="4382659" cy="823912"/>
          </a:xfrm>
        </p:spPr>
        <p:txBody>
          <a:bodyPr>
            <a:normAutofit/>
          </a:bodyPr>
          <a:lstStyle/>
          <a:p>
            <a:r>
              <a:rPr lang="en-US" dirty="0"/>
              <a:t>Initial Reservations</a:t>
            </a:r>
          </a:p>
        </p:txBody>
      </p:sp>
      <p:sp>
        <p:nvSpPr>
          <p:cNvPr id="3" name="Content Placeholder 2">
            <a:extLst>
              <a:ext uri="{FF2B5EF4-FFF2-40B4-BE49-F238E27FC236}">
                <a16:creationId xmlns:a16="http://schemas.microsoft.com/office/drawing/2014/main" id="{9BA70CCB-3368-EB6E-0B78-B2C3BBDEE912}"/>
              </a:ext>
            </a:extLst>
          </p:cNvPr>
          <p:cNvSpPr>
            <a:spLocks noGrp="1"/>
          </p:cNvSpPr>
          <p:nvPr>
            <p:ph sz="half" idx="2"/>
          </p:nvPr>
        </p:nvSpPr>
        <p:spPr>
          <a:xfrm>
            <a:off x="609035" y="2653756"/>
            <a:ext cx="4001319" cy="2131858"/>
          </a:xfrm>
        </p:spPr>
        <p:txBody>
          <a:bodyPr>
            <a:normAutofit lnSpcReduction="10000"/>
          </a:bodyPr>
          <a:lstStyle/>
          <a:p>
            <a:pPr>
              <a:lnSpc>
                <a:spcPct val="110000"/>
              </a:lnSpc>
              <a:spcAft>
                <a:spcPts val="1200"/>
              </a:spcAft>
            </a:pPr>
            <a:r>
              <a:rPr lang="en-US" sz="2400" dirty="0"/>
              <a:t>9-hour commitment for just in-person instruction</a:t>
            </a:r>
          </a:p>
          <a:p>
            <a:pPr>
              <a:spcAft>
                <a:spcPts val="1200"/>
              </a:spcAft>
            </a:pPr>
            <a:r>
              <a:rPr lang="en-US" sz="2400" dirty="0"/>
              <a:t>Need enough to test understanding without being burdensome</a:t>
            </a:r>
          </a:p>
        </p:txBody>
      </p:sp>
      <p:sp>
        <p:nvSpPr>
          <p:cNvPr id="6" name="Text Placeholder 5">
            <a:extLst>
              <a:ext uri="{FF2B5EF4-FFF2-40B4-BE49-F238E27FC236}">
                <a16:creationId xmlns:a16="http://schemas.microsoft.com/office/drawing/2014/main" id="{900C9CBE-D209-B1FB-3D97-A1B77F664FC2}"/>
              </a:ext>
            </a:extLst>
          </p:cNvPr>
          <p:cNvSpPr>
            <a:spLocks noGrp="1"/>
          </p:cNvSpPr>
          <p:nvPr>
            <p:ph type="body" sz="quarter" idx="3"/>
          </p:nvPr>
        </p:nvSpPr>
        <p:spPr>
          <a:xfrm>
            <a:off x="4738142" y="1627223"/>
            <a:ext cx="5362959" cy="823912"/>
          </a:xfrm>
        </p:spPr>
        <p:txBody>
          <a:bodyPr>
            <a:normAutofit/>
          </a:bodyPr>
          <a:lstStyle/>
          <a:p>
            <a:r>
              <a:rPr lang="en-US" dirty="0"/>
              <a:t>Decisions and Solutions</a:t>
            </a:r>
          </a:p>
        </p:txBody>
      </p:sp>
      <p:sp>
        <p:nvSpPr>
          <p:cNvPr id="7" name="Content Placeholder 6">
            <a:extLst>
              <a:ext uri="{FF2B5EF4-FFF2-40B4-BE49-F238E27FC236}">
                <a16:creationId xmlns:a16="http://schemas.microsoft.com/office/drawing/2014/main" id="{4A1E9954-F891-90EC-3BC8-EC645159AC2C}"/>
              </a:ext>
            </a:extLst>
          </p:cNvPr>
          <p:cNvSpPr>
            <a:spLocks noGrp="1"/>
          </p:cNvSpPr>
          <p:nvPr>
            <p:ph sz="quarter" idx="4"/>
          </p:nvPr>
        </p:nvSpPr>
        <p:spPr>
          <a:xfrm>
            <a:off x="4560730" y="4353683"/>
            <a:ext cx="7513506" cy="2608868"/>
          </a:xfrm>
        </p:spPr>
        <p:txBody>
          <a:bodyPr>
            <a:normAutofit lnSpcReduction="10000"/>
          </a:bodyPr>
          <a:lstStyle/>
          <a:p>
            <a:pPr>
              <a:lnSpc>
                <a:spcPct val="110000"/>
              </a:lnSpc>
              <a:spcAft>
                <a:spcPts val="1200"/>
              </a:spcAft>
            </a:pPr>
            <a:r>
              <a:rPr lang="en-US" sz="2400" dirty="0"/>
              <a:t>Given 1 week to complete each problem set</a:t>
            </a:r>
          </a:p>
          <a:p>
            <a:pPr>
              <a:lnSpc>
                <a:spcPct val="110000"/>
              </a:lnSpc>
              <a:spcAft>
                <a:spcPts val="1200"/>
              </a:spcAft>
            </a:pPr>
            <a:r>
              <a:rPr lang="en-US" sz="2400" dirty="0"/>
              <a:t>Practice problems + reflections assess skill application and encourage them to think about their learning process</a:t>
            </a:r>
          </a:p>
          <a:p>
            <a:pPr>
              <a:lnSpc>
                <a:spcPct val="110000"/>
              </a:lnSpc>
              <a:spcAft>
                <a:spcPts val="1200"/>
              </a:spcAft>
            </a:pPr>
            <a:r>
              <a:rPr lang="en-US" sz="2400" dirty="0"/>
              <a:t>Provided an answer key after submission deadline</a:t>
            </a:r>
          </a:p>
        </p:txBody>
      </p:sp>
      <p:cxnSp>
        <p:nvCxnSpPr>
          <p:cNvPr id="8" name="Straight Connector 7">
            <a:extLst>
              <a:ext uri="{FF2B5EF4-FFF2-40B4-BE49-F238E27FC236}">
                <a16:creationId xmlns:a16="http://schemas.microsoft.com/office/drawing/2014/main" id="{21D0DFFF-E159-63BA-209F-35F6C5A68AAF}"/>
              </a:ext>
              <a:ext uri="{C183D7F6-B498-43B3-948B-1728B52AA6E4}">
                <adec:decorative xmlns:adec="http://schemas.microsoft.com/office/drawing/2017/decorative" val="1"/>
              </a:ext>
            </a:extLst>
          </p:cNvPr>
          <p:cNvCxnSpPr>
            <a:cxnSpLocks/>
          </p:cNvCxnSpPr>
          <p:nvPr/>
        </p:nvCxnSpPr>
        <p:spPr>
          <a:xfrm>
            <a:off x="604177" y="2451136"/>
            <a:ext cx="10915650" cy="0"/>
          </a:xfrm>
          <a:prstGeom prst="line">
            <a:avLst/>
          </a:prstGeom>
          <a:ln w="38100"/>
        </p:spPr>
        <p:style>
          <a:lnRef idx="2">
            <a:schemeClr val="accent1"/>
          </a:lnRef>
          <a:fillRef idx="0">
            <a:schemeClr val="accent1"/>
          </a:fillRef>
          <a:effectRef idx="1">
            <a:schemeClr val="accent1"/>
          </a:effectRef>
          <a:fontRef idx="minor">
            <a:schemeClr val="tx1"/>
          </a:fontRef>
        </p:style>
      </p:cxnSp>
      <p:pic>
        <p:nvPicPr>
          <p:cNvPr id="12" name="Picture 11" descr="A meme featuring a scene from the movie Black Panther with text above and a subtitle below. The text contrasts scientists' recommendation for students to get eight hours of sleep with schools' refusal, highlighted by the character's quote, &quot;We don't do that here.&quot;">
            <a:extLst>
              <a:ext uri="{FF2B5EF4-FFF2-40B4-BE49-F238E27FC236}">
                <a16:creationId xmlns:a16="http://schemas.microsoft.com/office/drawing/2014/main" id="{DBE18597-A586-5EAE-1CE1-6EA38CA1E567}"/>
              </a:ext>
            </a:extLst>
          </p:cNvPr>
          <p:cNvPicPr>
            <a:picLocks noChangeAspect="1"/>
          </p:cNvPicPr>
          <p:nvPr/>
        </p:nvPicPr>
        <p:blipFill>
          <a:blip r:embed="rId3" cstate="screen">
            <a:extLst>
              <a:ext uri="{28A0092B-C50C-407E-A947-70E740481C1C}">
                <a14:useLocalDpi xmlns:a14="http://schemas.microsoft.com/office/drawing/2010/main"/>
              </a:ext>
            </a:extLst>
          </a:blip>
          <a:srcRect l="2066" b="2674"/>
          <a:stretch>
            <a:fillRect/>
          </a:stretch>
        </p:blipFill>
        <p:spPr>
          <a:xfrm>
            <a:off x="8483884" y="64698"/>
            <a:ext cx="3708116" cy="3840547"/>
          </a:xfrm>
          <a:prstGeom prst="rect">
            <a:avLst/>
          </a:prstGeom>
        </p:spPr>
      </p:pic>
      <p:sp>
        <p:nvSpPr>
          <p:cNvPr id="14" name="TextBox 13">
            <a:extLst>
              <a:ext uri="{FF2B5EF4-FFF2-40B4-BE49-F238E27FC236}">
                <a16:creationId xmlns:a16="http://schemas.microsoft.com/office/drawing/2014/main" id="{6C131B8A-7B25-4BAB-D903-49A2786FCD7F}"/>
              </a:ext>
            </a:extLst>
          </p:cNvPr>
          <p:cNvSpPr txBox="1"/>
          <p:nvPr/>
        </p:nvSpPr>
        <p:spPr>
          <a:xfrm>
            <a:off x="4560729" y="2653757"/>
            <a:ext cx="4241075" cy="1569660"/>
          </a:xfrm>
          <a:prstGeom prst="rect">
            <a:avLst/>
          </a:prstGeom>
          <a:noFill/>
        </p:spPr>
        <p:txBody>
          <a:bodyPr wrap="square">
            <a:spAutoFit/>
          </a:bodyPr>
          <a:lstStyle/>
          <a:p>
            <a:pPr marL="228600" indent="-228600">
              <a:buFont typeface="Arial" panose="020B0604020202020204" pitchFamily="34" charset="0"/>
              <a:buChar char="•"/>
            </a:pPr>
            <a:r>
              <a:rPr lang="en-US" sz="2400" dirty="0"/>
              <a:t>Small, targeted set of practice problems </a:t>
            </a:r>
            <a:br>
              <a:rPr lang="en-US" sz="2400" dirty="0"/>
            </a:br>
            <a:r>
              <a:rPr lang="en-US" sz="2400" dirty="0"/>
              <a:t>focused on major topics from the session</a:t>
            </a:r>
          </a:p>
        </p:txBody>
      </p:sp>
    </p:spTree>
    <p:extLst>
      <p:ext uri="{BB962C8B-B14F-4D97-AF65-F5344CB8AC3E}">
        <p14:creationId xmlns:p14="http://schemas.microsoft.com/office/powerpoint/2010/main" val="2497530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99E86-EBF2-E065-34E4-151A85E8E9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67BF86-230A-E52F-0FFF-C86D8CF85F2D}"/>
              </a:ext>
            </a:extLst>
          </p:cNvPr>
          <p:cNvSpPr>
            <a:spLocks noGrp="1"/>
          </p:cNvSpPr>
          <p:nvPr>
            <p:ph type="title"/>
          </p:nvPr>
        </p:nvSpPr>
        <p:spPr>
          <a:xfrm>
            <a:off x="701004" y="297030"/>
            <a:ext cx="4393572" cy="1325563"/>
          </a:xfrm>
        </p:spPr>
        <p:txBody>
          <a:bodyPr>
            <a:normAutofit fontScale="90000"/>
          </a:bodyPr>
          <a:lstStyle/>
          <a:p>
            <a:r>
              <a:rPr lang="en-US" b="1" dirty="0"/>
              <a:t>Example</a:t>
            </a:r>
            <a:r>
              <a:rPr lang="en-US" dirty="0"/>
              <a:t>: Week 1 Practice Problems &amp; Reflections</a:t>
            </a:r>
          </a:p>
        </p:txBody>
      </p:sp>
      <p:sp>
        <p:nvSpPr>
          <p:cNvPr id="3" name="Content Placeholder 2">
            <a:extLst>
              <a:ext uri="{FF2B5EF4-FFF2-40B4-BE49-F238E27FC236}">
                <a16:creationId xmlns:a16="http://schemas.microsoft.com/office/drawing/2014/main" id="{90E5A040-219D-09F8-28D1-1DF912D853D8}"/>
              </a:ext>
            </a:extLst>
          </p:cNvPr>
          <p:cNvSpPr>
            <a:spLocks noGrp="1"/>
          </p:cNvSpPr>
          <p:nvPr>
            <p:ph idx="1"/>
          </p:nvPr>
        </p:nvSpPr>
        <p:spPr>
          <a:xfrm>
            <a:off x="282328" y="6121622"/>
            <a:ext cx="5427808" cy="463874"/>
          </a:xfrm>
        </p:spPr>
        <p:txBody>
          <a:bodyPr>
            <a:noAutofit/>
          </a:bodyPr>
          <a:lstStyle/>
          <a:p>
            <a:pPr marL="0" indent="0" algn="ctr">
              <a:buNone/>
            </a:pPr>
            <a:r>
              <a:rPr lang="en-US" sz="2400" dirty="0">
                <a:hlinkClick r:id="rId3"/>
              </a:rPr>
              <a:t>Week 1 Practice Problems &amp; Reflections</a:t>
            </a:r>
            <a:endParaRPr lang="en-US" sz="2400" dirty="0"/>
          </a:p>
        </p:txBody>
      </p:sp>
      <p:pic>
        <p:nvPicPr>
          <p:cNvPr id="6" name="Picture 5" descr="QR code with a pixelated dinosaur icon in center, designed for scanning to access an example practice problem set.">
            <a:extLst>
              <a:ext uri="{FF2B5EF4-FFF2-40B4-BE49-F238E27FC236}">
                <a16:creationId xmlns:a16="http://schemas.microsoft.com/office/drawing/2014/main" id="{2D1EC1E3-6811-DB13-EB08-27B21474D711}"/>
              </a:ext>
            </a:extLst>
          </p:cNvPr>
          <p:cNvPicPr>
            <a:picLocks noChangeAspect="1"/>
          </p:cNvPicPr>
          <p:nvPr/>
        </p:nvPicPr>
        <p:blipFill>
          <a:blip r:embed="rId4" cstate="screen">
            <a:extLst>
              <a:ext uri="{28A0092B-C50C-407E-A947-70E740481C1C}">
                <a14:useLocalDpi xmlns:a14="http://schemas.microsoft.com/office/drawing/2010/main"/>
              </a:ext>
            </a:extLst>
          </a:blip>
          <a:srcRect l="3292" t="5089" r="2832" b="4785"/>
          <a:stretch>
            <a:fillRect/>
          </a:stretch>
        </p:blipFill>
        <p:spPr>
          <a:xfrm>
            <a:off x="701003" y="1879056"/>
            <a:ext cx="4393573" cy="4218040"/>
          </a:xfrm>
          <a:prstGeom prst="rect">
            <a:avLst/>
          </a:prstGeom>
        </p:spPr>
      </p:pic>
      <p:pic>
        <p:nvPicPr>
          <p:cNvPr id="9" name="Picture 8" descr="Instructions for making a scatter plot with an example plot at bottom. Scatter plot displaying relationship between brain weight (log10 scale) on x-axis and total sleep on y-axis for various animal types.">
            <a:extLst>
              <a:ext uri="{FF2B5EF4-FFF2-40B4-BE49-F238E27FC236}">
                <a16:creationId xmlns:a16="http://schemas.microsoft.com/office/drawing/2014/main" id="{DFE1C48E-F603-C377-41B7-3A3814EF7E57}"/>
              </a:ext>
            </a:extLst>
          </p:cNvPr>
          <p:cNvPicPr>
            <a:picLocks noChangeAspect="1"/>
          </p:cNvPicPr>
          <p:nvPr/>
        </p:nvPicPr>
        <p:blipFill>
          <a:blip r:embed="rId5" cstate="screen">
            <a:extLst>
              <a:ext uri="{28A0092B-C50C-407E-A947-70E740481C1C}">
                <a14:useLocalDpi xmlns:a14="http://schemas.microsoft.com/office/drawing/2010/main"/>
              </a:ext>
            </a:extLst>
          </a:blip>
          <a:srcRect r="-7331"/>
          <a:stretch>
            <a:fillRect/>
          </a:stretch>
        </p:blipFill>
        <p:spPr>
          <a:xfrm>
            <a:off x="5895855" y="0"/>
            <a:ext cx="6296145" cy="6858000"/>
          </a:xfrm>
          <a:prstGeom prst="rect">
            <a:avLst/>
          </a:prstGeom>
          <a:ln>
            <a:solidFill>
              <a:schemeClr val="tx1"/>
            </a:solidFill>
          </a:ln>
        </p:spPr>
      </p:pic>
    </p:spTree>
    <p:extLst>
      <p:ext uri="{BB962C8B-B14F-4D97-AF65-F5344CB8AC3E}">
        <p14:creationId xmlns:p14="http://schemas.microsoft.com/office/powerpoint/2010/main" val="29391434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CFE0D-211F-E0A1-25A8-8B174629D2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9C5A31-9925-2C98-C08B-CDDCBAAABEC4}"/>
              </a:ext>
            </a:extLst>
          </p:cNvPr>
          <p:cNvSpPr>
            <a:spLocks noGrp="1"/>
          </p:cNvSpPr>
          <p:nvPr>
            <p:ph type="title"/>
          </p:nvPr>
        </p:nvSpPr>
        <p:spPr/>
        <p:txBody>
          <a:bodyPr/>
          <a:lstStyle/>
          <a:p>
            <a:r>
              <a:rPr lang="en-US" b="1" dirty="0"/>
              <a:t>Outcomes</a:t>
            </a:r>
            <a:r>
              <a:rPr lang="en-US" dirty="0"/>
              <a:t>: Instructor Workload</a:t>
            </a:r>
          </a:p>
        </p:txBody>
      </p:sp>
      <p:sp>
        <p:nvSpPr>
          <p:cNvPr id="5" name="Text Placeholder 4">
            <a:extLst>
              <a:ext uri="{FF2B5EF4-FFF2-40B4-BE49-F238E27FC236}">
                <a16:creationId xmlns:a16="http://schemas.microsoft.com/office/drawing/2014/main" id="{B5CE435B-5B7B-5505-23DB-988B928F270A}"/>
              </a:ext>
            </a:extLst>
          </p:cNvPr>
          <p:cNvSpPr>
            <a:spLocks noGrp="1"/>
          </p:cNvSpPr>
          <p:nvPr>
            <p:ph type="body" idx="1"/>
          </p:nvPr>
        </p:nvSpPr>
        <p:spPr>
          <a:xfrm>
            <a:off x="829514" y="1408250"/>
            <a:ext cx="5157787" cy="823912"/>
          </a:xfrm>
        </p:spPr>
        <p:txBody>
          <a:bodyPr/>
          <a:lstStyle/>
          <a:p>
            <a:r>
              <a:rPr lang="en-US" dirty="0"/>
              <a:t>Initial Reservations</a:t>
            </a:r>
          </a:p>
        </p:txBody>
      </p:sp>
      <p:sp>
        <p:nvSpPr>
          <p:cNvPr id="3" name="Content Placeholder 2">
            <a:extLst>
              <a:ext uri="{FF2B5EF4-FFF2-40B4-BE49-F238E27FC236}">
                <a16:creationId xmlns:a16="http://schemas.microsoft.com/office/drawing/2014/main" id="{4AE5A929-B420-C51F-4DC3-1271C50B0D1F}"/>
              </a:ext>
            </a:extLst>
          </p:cNvPr>
          <p:cNvSpPr>
            <a:spLocks noGrp="1"/>
          </p:cNvSpPr>
          <p:nvPr>
            <p:ph sz="half" idx="2"/>
          </p:nvPr>
        </p:nvSpPr>
        <p:spPr>
          <a:xfrm>
            <a:off x="627901" y="2443583"/>
            <a:ext cx="4201274" cy="3684588"/>
          </a:xfrm>
        </p:spPr>
        <p:txBody>
          <a:bodyPr>
            <a:normAutofit/>
          </a:bodyPr>
          <a:lstStyle/>
          <a:p>
            <a:r>
              <a:rPr lang="en-US" sz="2300" dirty="0"/>
              <a:t>What is being assessed and how?</a:t>
            </a:r>
          </a:p>
          <a:p>
            <a:r>
              <a:rPr lang="en-US" sz="2300" dirty="0"/>
              <a:t>Create assessment pieces that require minimal modification from semester to semester</a:t>
            </a:r>
          </a:p>
          <a:p>
            <a:r>
              <a:rPr lang="en-US" sz="2300" dirty="0"/>
              <a:t>Time needed to process micro-credential submissions</a:t>
            </a:r>
          </a:p>
        </p:txBody>
      </p:sp>
      <p:sp>
        <p:nvSpPr>
          <p:cNvPr id="6" name="Text Placeholder 5">
            <a:extLst>
              <a:ext uri="{FF2B5EF4-FFF2-40B4-BE49-F238E27FC236}">
                <a16:creationId xmlns:a16="http://schemas.microsoft.com/office/drawing/2014/main" id="{D67C9AF1-66F7-1720-AAA5-C7577BE072F5}"/>
              </a:ext>
            </a:extLst>
          </p:cNvPr>
          <p:cNvSpPr>
            <a:spLocks noGrp="1"/>
          </p:cNvSpPr>
          <p:nvPr>
            <p:ph type="body" sz="quarter" idx="3"/>
          </p:nvPr>
        </p:nvSpPr>
        <p:spPr>
          <a:xfrm>
            <a:off x="5110199" y="1408250"/>
            <a:ext cx="5183188" cy="823912"/>
          </a:xfrm>
        </p:spPr>
        <p:txBody>
          <a:bodyPr/>
          <a:lstStyle/>
          <a:p>
            <a:r>
              <a:rPr lang="en-US" dirty="0"/>
              <a:t>Decisions and Solutions</a:t>
            </a:r>
          </a:p>
        </p:txBody>
      </p:sp>
      <p:sp>
        <p:nvSpPr>
          <p:cNvPr id="7" name="Content Placeholder 6">
            <a:extLst>
              <a:ext uri="{FF2B5EF4-FFF2-40B4-BE49-F238E27FC236}">
                <a16:creationId xmlns:a16="http://schemas.microsoft.com/office/drawing/2014/main" id="{4EA18F4C-202C-71B9-674E-E583C37E6AC2}"/>
              </a:ext>
            </a:extLst>
          </p:cNvPr>
          <p:cNvSpPr>
            <a:spLocks noGrp="1"/>
          </p:cNvSpPr>
          <p:nvPr>
            <p:ph sz="quarter" idx="4"/>
          </p:nvPr>
        </p:nvSpPr>
        <p:spPr>
          <a:xfrm>
            <a:off x="5030788" y="3543719"/>
            <a:ext cx="6722405" cy="3143114"/>
          </a:xfrm>
        </p:spPr>
        <p:txBody>
          <a:bodyPr>
            <a:noAutofit/>
          </a:bodyPr>
          <a:lstStyle/>
          <a:p>
            <a:r>
              <a:rPr lang="en-US" sz="2300" dirty="0"/>
              <a:t>Incorporate reflection questions to prompt learners to think about their learning experience</a:t>
            </a:r>
          </a:p>
          <a:p>
            <a:r>
              <a:rPr lang="en-US" sz="2300" dirty="0"/>
              <a:t>Updates to assessment pieces minimal from </a:t>
            </a:r>
            <a:br>
              <a:rPr lang="en-US" sz="2300" dirty="0"/>
            </a:br>
            <a:r>
              <a:rPr lang="en-US" sz="2300" dirty="0"/>
              <a:t>one semester to the next</a:t>
            </a:r>
          </a:p>
          <a:p>
            <a:r>
              <a:rPr lang="en-US" sz="2400" dirty="0"/>
              <a:t>Answer keys streamlined checking code submissions</a:t>
            </a:r>
          </a:p>
          <a:p>
            <a:r>
              <a:rPr lang="en-US" sz="2300" dirty="0"/>
              <a:t>Focus of assessment was application of content, not correctness</a:t>
            </a:r>
          </a:p>
        </p:txBody>
      </p:sp>
      <p:cxnSp>
        <p:nvCxnSpPr>
          <p:cNvPr id="4" name="Straight Connector 3">
            <a:extLst>
              <a:ext uri="{FF2B5EF4-FFF2-40B4-BE49-F238E27FC236}">
                <a16:creationId xmlns:a16="http://schemas.microsoft.com/office/drawing/2014/main" id="{7462FD0B-1332-A51B-B789-085E15ADD4AE}"/>
              </a:ext>
              <a:ext uri="{C183D7F6-B498-43B3-948B-1728B52AA6E4}">
                <adec:decorative xmlns:adec="http://schemas.microsoft.com/office/drawing/2017/decorative" val="1"/>
              </a:ext>
            </a:extLst>
          </p:cNvPr>
          <p:cNvCxnSpPr>
            <a:cxnSpLocks/>
          </p:cNvCxnSpPr>
          <p:nvPr/>
        </p:nvCxnSpPr>
        <p:spPr>
          <a:xfrm>
            <a:off x="627901" y="2232162"/>
            <a:ext cx="10915650" cy="0"/>
          </a:xfrm>
          <a:prstGeom prst="line">
            <a:avLst/>
          </a:prstGeom>
          <a:ln w="38100"/>
        </p:spPr>
        <p:style>
          <a:lnRef idx="2">
            <a:schemeClr val="accent1"/>
          </a:lnRef>
          <a:fillRef idx="0">
            <a:schemeClr val="accent1"/>
          </a:fillRef>
          <a:effectRef idx="1">
            <a:schemeClr val="accent1"/>
          </a:effectRef>
          <a:fontRef idx="minor">
            <a:schemeClr val="tx1"/>
          </a:fontRef>
        </p:style>
      </p:cxnSp>
      <p:pic>
        <p:nvPicPr>
          <p:cNvPr id="9" name="Picture 8" descr="A meme from SpongeBob SquarePants shows Squidward holding a to-do list with tasks like making sarcastic comments, distracting coworkers, complaining about tiredness, and gossiping with a work bestie. The caption above reads &quot;Looks like I’ve got a busy day&quot;">
            <a:extLst>
              <a:ext uri="{FF2B5EF4-FFF2-40B4-BE49-F238E27FC236}">
                <a16:creationId xmlns:a16="http://schemas.microsoft.com/office/drawing/2014/main" id="{0173026B-B3EB-1611-8D64-BBF0F07A0237}"/>
              </a:ext>
            </a:extLst>
          </p:cNvPr>
          <p:cNvPicPr>
            <a:picLocks noChangeAspect="1"/>
          </p:cNvPicPr>
          <p:nvPr/>
        </p:nvPicPr>
        <p:blipFill>
          <a:blip r:embed="rId3" cstate="print">
            <a:extLst>
              <a:ext uri="{28A0092B-C50C-407E-A947-70E740481C1C}">
                <a14:useLocalDpi xmlns:a14="http://schemas.microsoft.com/office/drawing/2010/main"/>
              </a:ext>
            </a:extLst>
          </a:blip>
          <a:srcRect l="2183" t="8240" r="1980" b="5324"/>
          <a:stretch>
            <a:fillRect/>
          </a:stretch>
        </p:blipFill>
        <p:spPr>
          <a:xfrm>
            <a:off x="8984453" y="25153"/>
            <a:ext cx="3175918" cy="2908546"/>
          </a:xfrm>
          <a:prstGeom prst="rect">
            <a:avLst/>
          </a:prstGeom>
        </p:spPr>
      </p:pic>
      <p:sp>
        <p:nvSpPr>
          <p:cNvPr id="11" name="TextBox 10">
            <a:extLst>
              <a:ext uri="{FF2B5EF4-FFF2-40B4-BE49-F238E27FC236}">
                <a16:creationId xmlns:a16="http://schemas.microsoft.com/office/drawing/2014/main" id="{311E6BF3-6BBB-BCAF-70E2-F6529E722440}"/>
              </a:ext>
            </a:extLst>
          </p:cNvPr>
          <p:cNvSpPr txBox="1"/>
          <p:nvPr/>
        </p:nvSpPr>
        <p:spPr>
          <a:xfrm>
            <a:off x="5030787" y="2443583"/>
            <a:ext cx="6416763" cy="1496820"/>
          </a:xfrm>
          <a:prstGeom prst="rect">
            <a:avLst/>
          </a:prstGeom>
          <a:noFill/>
        </p:spPr>
        <p:txBody>
          <a:bodyPr wrap="square">
            <a:spAutoFit/>
          </a:bodyPr>
          <a:lstStyle/>
          <a:p>
            <a:pPr marL="228600" lvl="0" indent="-228600">
              <a:lnSpc>
                <a:spcPct val="90000"/>
              </a:lnSpc>
              <a:spcBef>
                <a:spcPts val="1000"/>
              </a:spcBef>
              <a:buFont typeface="Arial" panose="020B0604020202020204" pitchFamily="34" charset="0"/>
              <a:buChar char="•"/>
            </a:pPr>
            <a:r>
              <a:rPr lang="en-US" sz="2300" dirty="0">
                <a:solidFill>
                  <a:prstClr val="black"/>
                </a:solidFill>
              </a:rPr>
              <a:t>Broad application of </a:t>
            </a:r>
            <a:br>
              <a:rPr lang="en-US" sz="2300" dirty="0">
                <a:solidFill>
                  <a:prstClr val="black"/>
                </a:solidFill>
              </a:rPr>
            </a:br>
            <a:r>
              <a:rPr lang="en-US" sz="2300" dirty="0">
                <a:solidFill>
                  <a:prstClr val="black"/>
                </a:solidFill>
              </a:rPr>
              <a:t>knowledge, rather than </a:t>
            </a:r>
            <a:br>
              <a:rPr lang="en-US" sz="2300" dirty="0">
                <a:solidFill>
                  <a:prstClr val="black"/>
                </a:solidFill>
              </a:rPr>
            </a:br>
            <a:r>
              <a:rPr lang="en-US" sz="2300" dirty="0">
                <a:solidFill>
                  <a:prstClr val="black"/>
                </a:solidFill>
              </a:rPr>
              <a:t>assessment of specific functions</a:t>
            </a:r>
          </a:p>
          <a:p>
            <a:pPr marL="228600" lvl="0" indent="-228600">
              <a:lnSpc>
                <a:spcPct val="90000"/>
              </a:lnSpc>
              <a:spcBef>
                <a:spcPts val="1000"/>
              </a:spcBef>
              <a:buFont typeface="Arial" panose="020B0604020202020204" pitchFamily="34" charset="0"/>
              <a:buChar char="•"/>
            </a:pPr>
            <a:endParaRPr lang="en-US" sz="2300" dirty="0">
              <a:solidFill>
                <a:prstClr val="black"/>
              </a:solidFill>
            </a:endParaRPr>
          </a:p>
        </p:txBody>
      </p:sp>
    </p:spTree>
    <p:extLst>
      <p:ext uri="{BB962C8B-B14F-4D97-AF65-F5344CB8AC3E}">
        <p14:creationId xmlns:p14="http://schemas.microsoft.com/office/powerpoint/2010/main" val="404783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2F6AA-A46C-1A4F-AA17-F5012344BE5E}"/>
            </a:ext>
          </a:extLst>
        </p:cNvPr>
        <p:cNvGrpSpPr/>
        <p:nvPr/>
      </p:nvGrpSpPr>
      <p:grpSpPr>
        <a:xfrm>
          <a:off x="0" y="0"/>
          <a:ext cx="0" cy="0"/>
          <a:chOff x="0" y="0"/>
          <a:chExt cx="0" cy="0"/>
        </a:xfrm>
      </p:grpSpPr>
      <p:pic>
        <p:nvPicPr>
          <p:cNvPr id="5" name="Picture 4" descr="QR code with a pixelated dinosaur icon in the center, designed to access an answer key.">
            <a:extLst>
              <a:ext uri="{FF2B5EF4-FFF2-40B4-BE49-F238E27FC236}">
                <a16:creationId xmlns:a16="http://schemas.microsoft.com/office/drawing/2014/main" id="{7E3A3512-CD1F-D2D1-F113-E7E286560CB9}"/>
              </a:ext>
            </a:extLst>
          </p:cNvPr>
          <p:cNvPicPr>
            <a:picLocks noChangeAspect="1"/>
          </p:cNvPicPr>
          <p:nvPr/>
        </p:nvPicPr>
        <p:blipFill>
          <a:blip r:embed="rId3" cstate="print">
            <a:extLst>
              <a:ext uri="{28A0092B-C50C-407E-A947-70E740481C1C}">
                <a14:useLocalDpi xmlns:a14="http://schemas.microsoft.com/office/drawing/2010/main"/>
              </a:ext>
            </a:extLst>
          </a:blip>
          <a:srcRect/>
          <a:stretch>
            <a:fillRect/>
          </a:stretch>
        </p:blipFill>
        <p:spPr>
          <a:xfrm>
            <a:off x="341081" y="1510256"/>
            <a:ext cx="4387940" cy="4543403"/>
          </a:xfrm>
          <a:prstGeom prst="rect">
            <a:avLst/>
          </a:prstGeom>
        </p:spPr>
      </p:pic>
      <p:sp>
        <p:nvSpPr>
          <p:cNvPr id="2" name="Title 1">
            <a:extLst>
              <a:ext uri="{FF2B5EF4-FFF2-40B4-BE49-F238E27FC236}">
                <a16:creationId xmlns:a16="http://schemas.microsoft.com/office/drawing/2014/main" id="{7DD4238B-7611-CFC3-FDD1-8B949BF48148}"/>
              </a:ext>
            </a:extLst>
          </p:cNvPr>
          <p:cNvSpPr>
            <a:spLocks noGrp="1"/>
          </p:cNvSpPr>
          <p:nvPr>
            <p:ph type="title"/>
          </p:nvPr>
        </p:nvSpPr>
        <p:spPr>
          <a:xfrm>
            <a:off x="341081" y="345669"/>
            <a:ext cx="4387940" cy="1325563"/>
          </a:xfrm>
        </p:spPr>
        <p:txBody>
          <a:bodyPr/>
          <a:lstStyle/>
          <a:p>
            <a:r>
              <a:rPr lang="en-US" b="1" dirty="0"/>
              <a:t>Example</a:t>
            </a:r>
            <a:r>
              <a:rPr lang="en-US" dirty="0"/>
              <a:t>: Week 1 Answer Key</a:t>
            </a:r>
          </a:p>
        </p:txBody>
      </p:sp>
      <p:sp>
        <p:nvSpPr>
          <p:cNvPr id="3" name="Content Placeholder 2">
            <a:extLst>
              <a:ext uri="{FF2B5EF4-FFF2-40B4-BE49-F238E27FC236}">
                <a16:creationId xmlns:a16="http://schemas.microsoft.com/office/drawing/2014/main" id="{6B181688-1E55-C7B5-E50F-7F83F76BDBAB}"/>
              </a:ext>
            </a:extLst>
          </p:cNvPr>
          <p:cNvSpPr>
            <a:spLocks noGrp="1"/>
          </p:cNvSpPr>
          <p:nvPr>
            <p:ph idx="1"/>
          </p:nvPr>
        </p:nvSpPr>
        <p:spPr>
          <a:xfrm>
            <a:off x="970437" y="6053659"/>
            <a:ext cx="3129227" cy="608370"/>
          </a:xfrm>
        </p:spPr>
        <p:txBody>
          <a:bodyPr/>
          <a:lstStyle/>
          <a:p>
            <a:pPr marL="0" indent="0" algn="ctr">
              <a:buNone/>
            </a:pPr>
            <a:r>
              <a:rPr lang="en-US" dirty="0">
                <a:hlinkClick r:id="rId4"/>
              </a:rPr>
              <a:t>Week 1 Answer Key</a:t>
            </a:r>
            <a:endParaRPr lang="en-US" dirty="0"/>
          </a:p>
        </p:txBody>
      </p:sp>
      <p:pic>
        <p:nvPicPr>
          <p:cNvPr id="7" name="Picture 6" descr="A box with R code to make a scatter plot is at the top with the corresponding plot below. Scatter plot displays relationship between brain weight (logarithmic scale) and total sleep duration for various animals, categorized by diet type (carnivore, herbivore, insectivore, omnivore, NA) using different colors.">
            <a:extLst>
              <a:ext uri="{FF2B5EF4-FFF2-40B4-BE49-F238E27FC236}">
                <a16:creationId xmlns:a16="http://schemas.microsoft.com/office/drawing/2014/main" id="{701B110D-FA8D-7572-446F-8CAB071F49B0}"/>
              </a:ext>
            </a:extLst>
          </p:cNvPr>
          <p:cNvPicPr>
            <a:picLocks noChangeAspect="1"/>
          </p:cNvPicPr>
          <p:nvPr/>
        </p:nvPicPr>
        <p:blipFill>
          <a:blip r:embed="rId5" cstate="print">
            <a:extLst>
              <a:ext uri="{28A0092B-C50C-407E-A947-70E740481C1C}">
                <a14:useLocalDpi xmlns:a14="http://schemas.microsoft.com/office/drawing/2010/main"/>
              </a:ext>
            </a:extLst>
          </a:blip>
          <a:srcRect/>
          <a:stretch>
            <a:fillRect/>
          </a:stretch>
        </p:blipFill>
        <p:spPr>
          <a:xfrm>
            <a:off x="5094159" y="0"/>
            <a:ext cx="7097842" cy="6858000"/>
          </a:xfrm>
          <a:prstGeom prst="rect">
            <a:avLst/>
          </a:prstGeom>
          <a:ln>
            <a:solidFill>
              <a:schemeClr val="tx1"/>
            </a:solidFill>
          </a:ln>
        </p:spPr>
      </p:pic>
    </p:spTree>
    <p:extLst>
      <p:ext uri="{BB962C8B-B14F-4D97-AF65-F5344CB8AC3E}">
        <p14:creationId xmlns:p14="http://schemas.microsoft.com/office/powerpoint/2010/main" val="37592570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D1225-E222-18FF-99B7-25083F4036FB}"/>
              </a:ext>
            </a:extLst>
          </p:cNvPr>
          <p:cNvSpPr>
            <a:spLocks noGrp="1"/>
          </p:cNvSpPr>
          <p:nvPr>
            <p:ph type="title"/>
          </p:nvPr>
        </p:nvSpPr>
        <p:spPr/>
        <p:txBody>
          <a:bodyPr/>
          <a:lstStyle/>
          <a:p>
            <a:r>
              <a:rPr lang="en-US" b="1" dirty="0"/>
              <a:t>Outcomes</a:t>
            </a:r>
            <a:r>
              <a:rPr lang="en-US" dirty="0"/>
              <a:t>: Micro-Credential Impact </a:t>
            </a:r>
          </a:p>
        </p:txBody>
      </p:sp>
      <p:sp>
        <p:nvSpPr>
          <p:cNvPr id="12" name="Text Placeholder 4">
            <a:extLst>
              <a:ext uri="{FF2B5EF4-FFF2-40B4-BE49-F238E27FC236}">
                <a16:creationId xmlns:a16="http://schemas.microsoft.com/office/drawing/2014/main" id="{D4812F62-6E28-2CE2-BA32-FD8E984D09BE}"/>
              </a:ext>
            </a:extLst>
          </p:cNvPr>
          <p:cNvSpPr>
            <a:spLocks noGrp="1"/>
          </p:cNvSpPr>
          <p:nvPr>
            <p:ph type="body" idx="1"/>
          </p:nvPr>
        </p:nvSpPr>
        <p:spPr>
          <a:xfrm>
            <a:off x="921536" y="1408250"/>
            <a:ext cx="5157787" cy="823912"/>
          </a:xfrm>
        </p:spPr>
        <p:txBody>
          <a:bodyPr/>
          <a:lstStyle/>
          <a:p>
            <a:r>
              <a:rPr lang="en-US" dirty="0"/>
              <a:t>Initial Reservations</a:t>
            </a:r>
          </a:p>
        </p:txBody>
      </p:sp>
      <p:sp>
        <p:nvSpPr>
          <p:cNvPr id="4" name="Content Placeholder 3">
            <a:extLst>
              <a:ext uri="{FF2B5EF4-FFF2-40B4-BE49-F238E27FC236}">
                <a16:creationId xmlns:a16="http://schemas.microsoft.com/office/drawing/2014/main" id="{66A9BA2D-C7F8-8CBD-5A5E-B66F51BEE027}"/>
              </a:ext>
            </a:extLst>
          </p:cNvPr>
          <p:cNvSpPr>
            <a:spLocks noGrp="1"/>
          </p:cNvSpPr>
          <p:nvPr>
            <p:ph sz="half" idx="2"/>
          </p:nvPr>
        </p:nvSpPr>
        <p:spPr>
          <a:xfrm>
            <a:off x="719923" y="2505075"/>
            <a:ext cx="5183188" cy="3684588"/>
          </a:xfrm>
        </p:spPr>
        <p:txBody>
          <a:bodyPr>
            <a:normAutofit/>
          </a:bodyPr>
          <a:lstStyle/>
          <a:p>
            <a:pPr>
              <a:spcAft>
                <a:spcPts val="1200"/>
              </a:spcAft>
            </a:pPr>
            <a:r>
              <a:rPr lang="en-US" sz="2400" dirty="0"/>
              <a:t>Micro-credential badge feels earned</a:t>
            </a:r>
          </a:p>
          <a:p>
            <a:pPr>
              <a:spcAft>
                <a:spcPts val="1200"/>
              </a:spcAft>
            </a:pPr>
            <a:r>
              <a:rPr lang="en-US" sz="2400" dirty="0"/>
              <a:t>Consider learners may use AI to complete assessment pieces</a:t>
            </a:r>
          </a:p>
        </p:txBody>
      </p:sp>
      <p:sp>
        <p:nvSpPr>
          <p:cNvPr id="13" name="Text Placeholder 5">
            <a:extLst>
              <a:ext uri="{FF2B5EF4-FFF2-40B4-BE49-F238E27FC236}">
                <a16:creationId xmlns:a16="http://schemas.microsoft.com/office/drawing/2014/main" id="{394DDA40-65BC-336C-41C0-EF0F269FDEE8}"/>
              </a:ext>
            </a:extLst>
          </p:cNvPr>
          <p:cNvSpPr>
            <a:spLocks noGrp="1"/>
          </p:cNvSpPr>
          <p:nvPr>
            <p:ph type="body" sz="quarter" idx="3"/>
          </p:nvPr>
        </p:nvSpPr>
        <p:spPr>
          <a:xfrm>
            <a:off x="6288889" y="1408250"/>
            <a:ext cx="5183188" cy="823912"/>
          </a:xfrm>
        </p:spPr>
        <p:txBody>
          <a:bodyPr/>
          <a:lstStyle/>
          <a:p>
            <a:r>
              <a:rPr lang="en-US" dirty="0"/>
              <a:t>Decisions and Solutions</a:t>
            </a:r>
          </a:p>
        </p:txBody>
      </p:sp>
      <p:sp>
        <p:nvSpPr>
          <p:cNvPr id="6" name="Content Placeholder 5">
            <a:extLst>
              <a:ext uri="{FF2B5EF4-FFF2-40B4-BE49-F238E27FC236}">
                <a16:creationId xmlns:a16="http://schemas.microsoft.com/office/drawing/2014/main" id="{317E0ED6-3F90-E406-F4D7-9B6C28E15F4C}"/>
              </a:ext>
            </a:extLst>
          </p:cNvPr>
          <p:cNvSpPr>
            <a:spLocks noGrp="1"/>
          </p:cNvSpPr>
          <p:nvPr>
            <p:ph sz="quarter" idx="4"/>
          </p:nvPr>
        </p:nvSpPr>
        <p:spPr>
          <a:xfrm>
            <a:off x="6288888" y="2505075"/>
            <a:ext cx="5335761" cy="3684588"/>
          </a:xfrm>
        </p:spPr>
        <p:txBody>
          <a:bodyPr>
            <a:noAutofit/>
          </a:bodyPr>
          <a:lstStyle/>
          <a:p>
            <a:pPr>
              <a:spcAft>
                <a:spcPts val="1200"/>
              </a:spcAft>
            </a:pPr>
            <a:r>
              <a:rPr lang="en-US" sz="2400" dirty="0"/>
              <a:t>Application of cumulative learned material to new datasets</a:t>
            </a:r>
          </a:p>
          <a:p>
            <a:pPr>
              <a:spcAft>
                <a:spcPts val="1200"/>
              </a:spcAft>
            </a:pPr>
            <a:r>
              <a:rPr lang="en-US" sz="2400" dirty="0"/>
              <a:t>Reflections focused on overcoming challenges, rewarding moments, and what they were excited to try next</a:t>
            </a:r>
          </a:p>
          <a:p>
            <a:pPr>
              <a:spcAft>
                <a:spcPts val="1200"/>
              </a:spcAft>
            </a:pPr>
            <a:r>
              <a:rPr lang="en-US" sz="2400" dirty="0"/>
              <a:t>Emphasis on learning and application, not policing potential </a:t>
            </a:r>
            <a:br>
              <a:rPr lang="en-US" sz="2400" dirty="0"/>
            </a:br>
            <a:r>
              <a:rPr lang="en-US" sz="2400" dirty="0"/>
              <a:t>AI use</a:t>
            </a:r>
          </a:p>
        </p:txBody>
      </p:sp>
      <p:cxnSp>
        <p:nvCxnSpPr>
          <p:cNvPr id="14" name="Straight Connector 13">
            <a:extLst>
              <a:ext uri="{FF2B5EF4-FFF2-40B4-BE49-F238E27FC236}">
                <a16:creationId xmlns:a16="http://schemas.microsoft.com/office/drawing/2014/main" id="{C0E23E3B-8863-1CF5-E339-D5F4849D0260}"/>
              </a:ext>
              <a:ext uri="{C183D7F6-B498-43B3-948B-1728B52AA6E4}">
                <adec:decorative xmlns:adec="http://schemas.microsoft.com/office/drawing/2017/decorative" val="1"/>
              </a:ext>
            </a:extLst>
          </p:cNvPr>
          <p:cNvCxnSpPr>
            <a:cxnSpLocks/>
          </p:cNvCxnSpPr>
          <p:nvPr/>
        </p:nvCxnSpPr>
        <p:spPr>
          <a:xfrm>
            <a:off x="627901" y="2232162"/>
            <a:ext cx="10915650" cy="0"/>
          </a:xfrm>
          <a:prstGeom prst="line">
            <a:avLst/>
          </a:prstGeom>
          <a:ln w="38100"/>
        </p:spPr>
        <p:style>
          <a:lnRef idx="2">
            <a:schemeClr val="accent1"/>
          </a:lnRef>
          <a:fillRef idx="0">
            <a:schemeClr val="accent1"/>
          </a:fillRef>
          <a:effectRef idx="1">
            <a:schemeClr val="accent1"/>
          </a:effectRef>
          <a:fontRef idx="minor">
            <a:schemeClr val="tx1"/>
          </a:fontRef>
        </p:style>
      </p:cxnSp>
      <p:pic>
        <p:nvPicPr>
          <p:cNvPr id="16" name="Picture 15" descr="Photograph of an orange kitten mid-jump with front paws raised. White bold text above and below the kitten reads, &quot;SUCCESS IS&quot; and &quot;BEST PERSONAL EFFORT REGARDLESS OF THE OUTCOME&quot;">
            <a:extLst>
              <a:ext uri="{FF2B5EF4-FFF2-40B4-BE49-F238E27FC236}">
                <a16:creationId xmlns:a16="http://schemas.microsoft.com/office/drawing/2014/main" id="{21A8813D-7F3B-8E3D-6D43-7B0F85F2575E}"/>
              </a:ext>
            </a:extLst>
          </p:cNvPr>
          <p:cNvPicPr>
            <a:picLocks noChangeAspect="1"/>
          </p:cNvPicPr>
          <p:nvPr/>
        </p:nvPicPr>
        <p:blipFill>
          <a:blip r:embed="rId3"/>
          <a:stretch>
            <a:fillRect/>
          </a:stretch>
        </p:blipFill>
        <p:spPr>
          <a:xfrm>
            <a:off x="1044069" y="3938370"/>
            <a:ext cx="3907310" cy="2822353"/>
          </a:xfrm>
          <a:prstGeom prst="rect">
            <a:avLst/>
          </a:prstGeom>
        </p:spPr>
      </p:pic>
    </p:spTree>
    <p:extLst>
      <p:ext uri="{BB962C8B-B14F-4D97-AF65-F5344CB8AC3E}">
        <p14:creationId xmlns:p14="http://schemas.microsoft.com/office/powerpoint/2010/main" val="363924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8CC0B-BE4B-929A-DE9B-846DBA396903}"/>
              </a:ext>
            </a:extLst>
          </p:cNvPr>
          <p:cNvSpPr>
            <a:spLocks noGrp="1"/>
          </p:cNvSpPr>
          <p:nvPr>
            <p:ph type="title"/>
          </p:nvPr>
        </p:nvSpPr>
        <p:spPr>
          <a:xfrm>
            <a:off x="838200" y="365126"/>
            <a:ext cx="10515600" cy="824634"/>
          </a:xfrm>
        </p:spPr>
        <p:txBody>
          <a:bodyPr/>
          <a:lstStyle/>
          <a:p>
            <a:r>
              <a:rPr lang="en-US" b="1" dirty="0"/>
              <a:t>Learner Reflections</a:t>
            </a:r>
            <a:r>
              <a:rPr lang="en-US" dirty="0"/>
              <a:t>: Most Challenging</a:t>
            </a:r>
          </a:p>
        </p:txBody>
      </p:sp>
      <p:sp>
        <p:nvSpPr>
          <p:cNvPr id="5" name="Content Placeholder 2">
            <a:extLst>
              <a:ext uri="{FF2B5EF4-FFF2-40B4-BE49-F238E27FC236}">
                <a16:creationId xmlns:a16="http://schemas.microsoft.com/office/drawing/2014/main" id="{7DD6640D-5944-C865-40EE-6602D8ECD989}"/>
              </a:ext>
            </a:extLst>
          </p:cNvPr>
          <p:cNvSpPr txBox="1">
            <a:spLocks/>
          </p:cNvSpPr>
          <p:nvPr/>
        </p:nvSpPr>
        <p:spPr>
          <a:xfrm>
            <a:off x="997581" y="1211406"/>
            <a:ext cx="8807322" cy="158822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SzPct val="70000"/>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t>“The most challenging aspect of this week's workshop was understanding the syntax of plotting with </a:t>
            </a:r>
            <a:r>
              <a:rPr lang="en-US" sz="2400" dirty="0" err="1"/>
              <a:t>ggplot</a:t>
            </a:r>
            <a:r>
              <a:rPr lang="en-US" sz="2400" dirty="0"/>
              <a:t> so that I could apply it to other contexts, but I am overcoming it with the practice that I got during the workshop and from these practice problems.”</a:t>
            </a:r>
          </a:p>
        </p:txBody>
      </p:sp>
      <p:sp>
        <p:nvSpPr>
          <p:cNvPr id="4" name="Content Placeholder 2">
            <a:extLst>
              <a:ext uri="{FF2B5EF4-FFF2-40B4-BE49-F238E27FC236}">
                <a16:creationId xmlns:a16="http://schemas.microsoft.com/office/drawing/2014/main" id="{4C83F288-3374-C897-9E80-D7A5E1C560A3}"/>
              </a:ext>
            </a:extLst>
          </p:cNvPr>
          <p:cNvSpPr txBox="1">
            <a:spLocks/>
          </p:cNvSpPr>
          <p:nvPr/>
        </p:nvSpPr>
        <p:spPr>
          <a:xfrm>
            <a:off x="3407786" y="2921144"/>
            <a:ext cx="8520542" cy="177713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SzPct val="70000"/>
              <a:buFont typeface="Courier New" panose="02070309020205020404" pitchFamily="49" charset="0"/>
              <a:buChar char="o"/>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t>“The most challenging aspect of the workshop was memorizing the individual codes to improve and design the plot. I overcame this by seeking to understand the purpose of the code as opposed to just memorizing. I asked myself, what do I need and what am I formatting and worked from there step by step.”</a:t>
            </a:r>
          </a:p>
        </p:txBody>
      </p:sp>
      <p:sp>
        <p:nvSpPr>
          <p:cNvPr id="3" name="Content Placeholder 2">
            <a:extLst>
              <a:ext uri="{FF2B5EF4-FFF2-40B4-BE49-F238E27FC236}">
                <a16:creationId xmlns:a16="http://schemas.microsoft.com/office/drawing/2014/main" id="{EBA1C939-318C-673F-CF2B-1C8D9B0F27C9}"/>
              </a:ext>
            </a:extLst>
          </p:cNvPr>
          <p:cNvSpPr>
            <a:spLocks noGrp="1"/>
          </p:cNvSpPr>
          <p:nvPr>
            <p:ph idx="1"/>
          </p:nvPr>
        </p:nvSpPr>
        <p:spPr>
          <a:xfrm>
            <a:off x="503962" y="4819795"/>
            <a:ext cx="11301847" cy="1817976"/>
          </a:xfrm>
        </p:spPr>
        <p:txBody>
          <a:bodyPr>
            <a:noAutofit/>
          </a:bodyPr>
          <a:lstStyle/>
          <a:p>
            <a:pPr marL="0" indent="0">
              <a:buNone/>
            </a:pPr>
            <a:r>
              <a:rPr lang="en-US" sz="2400"/>
              <a:t>“</a:t>
            </a:r>
            <a:r>
              <a:rPr lang="en-GB" sz="2400"/>
              <a:t>The most challenging aspect of this week’s workshop was understanding the concept of factors. Initially, I did not fully comprehend the meaning of the term or what it accomplished. Thankfully, the lesson manual given on GitHub assisted with explaining this notion, and so I was able to eventually understand. The practice questions in the homework assignment also helped me to grasp the concept.”</a:t>
            </a:r>
            <a:endParaRPr lang="en-US" sz="2400"/>
          </a:p>
        </p:txBody>
      </p:sp>
      <p:pic>
        <p:nvPicPr>
          <p:cNvPr id="9" name="Picture 8">
            <a:extLst>
              <a:ext uri="{FF2B5EF4-FFF2-40B4-BE49-F238E27FC236}">
                <a16:creationId xmlns:a16="http://schemas.microsoft.com/office/drawing/2014/main" id="{75056383-A4E6-864A-AF76-E85C9BD3774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741" y="2266229"/>
            <a:ext cx="2934564" cy="2934564"/>
          </a:xfrm>
          <a:prstGeom prst="rect">
            <a:avLst/>
          </a:prstGeom>
        </p:spPr>
      </p:pic>
    </p:spTree>
    <p:extLst>
      <p:ext uri="{BB962C8B-B14F-4D97-AF65-F5344CB8AC3E}">
        <p14:creationId xmlns:p14="http://schemas.microsoft.com/office/powerpoint/2010/main" val="18792482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E1EDB-F106-AEC0-0D34-69DCB66672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E92EF6-D1B4-AEC6-BD6E-6ADD0C52F1C3}"/>
              </a:ext>
            </a:extLst>
          </p:cNvPr>
          <p:cNvSpPr>
            <a:spLocks noGrp="1"/>
          </p:cNvSpPr>
          <p:nvPr>
            <p:ph type="title"/>
          </p:nvPr>
        </p:nvSpPr>
        <p:spPr>
          <a:xfrm>
            <a:off x="838200" y="365126"/>
            <a:ext cx="10515600" cy="803852"/>
          </a:xfrm>
        </p:spPr>
        <p:txBody>
          <a:bodyPr/>
          <a:lstStyle/>
          <a:p>
            <a:r>
              <a:rPr lang="en-US" b="1" dirty="0"/>
              <a:t>Learner Reflections</a:t>
            </a:r>
            <a:r>
              <a:rPr lang="en-US" dirty="0"/>
              <a:t>: Most Rewarding</a:t>
            </a:r>
          </a:p>
        </p:txBody>
      </p:sp>
      <p:sp>
        <p:nvSpPr>
          <p:cNvPr id="6" name="TextBox 5">
            <a:extLst>
              <a:ext uri="{FF2B5EF4-FFF2-40B4-BE49-F238E27FC236}">
                <a16:creationId xmlns:a16="http://schemas.microsoft.com/office/drawing/2014/main" id="{F006C241-37FD-7836-C262-37EB6F09D069}"/>
              </a:ext>
            </a:extLst>
          </p:cNvPr>
          <p:cNvSpPr txBox="1"/>
          <p:nvPr/>
        </p:nvSpPr>
        <p:spPr>
          <a:xfrm>
            <a:off x="415636" y="1129620"/>
            <a:ext cx="3725141" cy="1938992"/>
          </a:xfrm>
          <a:prstGeom prst="rect">
            <a:avLst/>
          </a:prstGeom>
          <a:noFill/>
        </p:spPr>
        <p:txBody>
          <a:bodyPr wrap="square">
            <a:spAutoFit/>
          </a:bodyPr>
          <a:lstStyle/>
          <a:p>
            <a:r>
              <a:rPr lang="en-US" sz="2000"/>
              <a:t>“The most rewarding part of this so far has been the homework lesson. I dreaded it for days, but found that it was very easy when I used my previous code and just modified it.”</a:t>
            </a:r>
          </a:p>
        </p:txBody>
      </p:sp>
      <p:sp>
        <p:nvSpPr>
          <p:cNvPr id="3" name="Content Placeholder 2">
            <a:extLst>
              <a:ext uri="{FF2B5EF4-FFF2-40B4-BE49-F238E27FC236}">
                <a16:creationId xmlns:a16="http://schemas.microsoft.com/office/drawing/2014/main" id="{7E08DE1D-DCCD-6874-38AC-A5B1C2B9FA34}"/>
              </a:ext>
            </a:extLst>
          </p:cNvPr>
          <p:cNvSpPr>
            <a:spLocks noGrp="1"/>
          </p:cNvSpPr>
          <p:nvPr>
            <p:ph idx="1"/>
          </p:nvPr>
        </p:nvSpPr>
        <p:spPr>
          <a:xfrm>
            <a:off x="4657291" y="1168978"/>
            <a:ext cx="3673187" cy="1292662"/>
          </a:xfrm>
        </p:spPr>
        <p:txBody>
          <a:bodyPr>
            <a:noAutofit/>
          </a:bodyPr>
          <a:lstStyle/>
          <a:p>
            <a:pPr marL="0" indent="0">
              <a:buNone/>
            </a:pPr>
            <a:r>
              <a:rPr lang="en-US" sz="2000"/>
              <a:t>“This workshop helped me feel more comfortable working with datasets and showed me that I am gradually becoming more confident in using R.”</a:t>
            </a:r>
          </a:p>
        </p:txBody>
      </p:sp>
      <p:sp>
        <p:nvSpPr>
          <p:cNvPr id="8" name="TextBox 7">
            <a:extLst>
              <a:ext uri="{FF2B5EF4-FFF2-40B4-BE49-F238E27FC236}">
                <a16:creationId xmlns:a16="http://schemas.microsoft.com/office/drawing/2014/main" id="{5DBA776C-8460-D78B-E5D6-A1ECBF0804E7}"/>
              </a:ext>
            </a:extLst>
          </p:cNvPr>
          <p:cNvSpPr txBox="1"/>
          <p:nvPr/>
        </p:nvSpPr>
        <p:spPr>
          <a:xfrm>
            <a:off x="8796767" y="1338255"/>
            <a:ext cx="3122469" cy="2246769"/>
          </a:xfrm>
          <a:prstGeom prst="rect">
            <a:avLst/>
          </a:prstGeom>
          <a:noFill/>
        </p:spPr>
        <p:txBody>
          <a:bodyPr wrap="square">
            <a:spAutoFit/>
          </a:bodyPr>
          <a:lstStyle/>
          <a:p>
            <a:r>
              <a:rPr lang="en-US" sz="2000" dirty="0"/>
              <a:t>“It is always fun when you’ve entered the syntax properly and clicking “Ctrl + Enter” suddenly makes a graph pop up that makes sense and looks like what you were expecting.”</a:t>
            </a:r>
          </a:p>
        </p:txBody>
      </p:sp>
      <p:sp>
        <p:nvSpPr>
          <p:cNvPr id="14" name="TextBox 13">
            <a:extLst>
              <a:ext uri="{FF2B5EF4-FFF2-40B4-BE49-F238E27FC236}">
                <a16:creationId xmlns:a16="http://schemas.microsoft.com/office/drawing/2014/main" id="{A4806B37-F8A9-2E7F-523F-0DA8D924E63A}"/>
              </a:ext>
            </a:extLst>
          </p:cNvPr>
          <p:cNvSpPr txBox="1"/>
          <p:nvPr/>
        </p:nvSpPr>
        <p:spPr>
          <a:xfrm>
            <a:off x="342900" y="3429000"/>
            <a:ext cx="3122468" cy="2554545"/>
          </a:xfrm>
          <a:prstGeom prst="rect">
            <a:avLst/>
          </a:prstGeom>
          <a:noFill/>
        </p:spPr>
        <p:txBody>
          <a:bodyPr wrap="square">
            <a:spAutoFit/>
          </a:bodyPr>
          <a:lstStyle/>
          <a:p>
            <a:r>
              <a:rPr lang="en-US" sz="2000"/>
              <a:t>“The most rewarding aspect of the workshop is being able to do the practice problems independently. This reflected my understanding of the workshop.”</a:t>
            </a:r>
          </a:p>
        </p:txBody>
      </p:sp>
      <p:sp>
        <p:nvSpPr>
          <p:cNvPr id="10" name="TextBox 9">
            <a:extLst>
              <a:ext uri="{FF2B5EF4-FFF2-40B4-BE49-F238E27FC236}">
                <a16:creationId xmlns:a16="http://schemas.microsoft.com/office/drawing/2014/main" id="{77DB92B6-91A1-1C85-828C-C7EDCD3EE332}"/>
              </a:ext>
            </a:extLst>
          </p:cNvPr>
          <p:cNvSpPr txBox="1"/>
          <p:nvPr/>
        </p:nvSpPr>
        <p:spPr>
          <a:xfrm>
            <a:off x="3096057" y="4954626"/>
            <a:ext cx="3122468" cy="1631216"/>
          </a:xfrm>
          <a:prstGeom prst="rect">
            <a:avLst/>
          </a:prstGeom>
          <a:noFill/>
        </p:spPr>
        <p:txBody>
          <a:bodyPr wrap="square">
            <a:spAutoFit/>
          </a:bodyPr>
          <a:lstStyle/>
          <a:p>
            <a:r>
              <a:rPr lang="en-US" sz="2000" dirty="0"/>
              <a:t>“While completing the practice problems and the challenges, I actually understood what it was asking and how to code it.”</a:t>
            </a:r>
          </a:p>
        </p:txBody>
      </p:sp>
      <p:sp>
        <p:nvSpPr>
          <p:cNvPr id="12" name="TextBox 11">
            <a:extLst>
              <a:ext uri="{FF2B5EF4-FFF2-40B4-BE49-F238E27FC236}">
                <a16:creationId xmlns:a16="http://schemas.microsoft.com/office/drawing/2014/main" id="{74CCC8C6-E6EB-32AB-6EA6-673EB5C9F20D}"/>
              </a:ext>
            </a:extLst>
          </p:cNvPr>
          <p:cNvSpPr txBox="1"/>
          <p:nvPr/>
        </p:nvSpPr>
        <p:spPr>
          <a:xfrm>
            <a:off x="6837218" y="3930689"/>
            <a:ext cx="5276850" cy="2862322"/>
          </a:xfrm>
          <a:prstGeom prst="rect">
            <a:avLst/>
          </a:prstGeom>
          <a:noFill/>
        </p:spPr>
        <p:txBody>
          <a:bodyPr wrap="square">
            <a:spAutoFit/>
          </a:bodyPr>
          <a:lstStyle/>
          <a:p>
            <a:r>
              <a:rPr lang="en-US" sz="2000"/>
              <a:t>“The most rewarding aspect was getting the graphs in the Week 1 Practice Problems to look similar to the examples because for these I was on my own in troubleshooting the syntax, </a:t>
            </a:r>
            <a:r>
              <a:rPr lang="en-US" sz="2000" err="1"/>
              <a:t>geom</a:t>
            </a:r>
            <a:r>
              <a:rPr lang="en-US" sz="2000"/>
              <a:t> order, within which set of parentheses to place things, etc.  Completing it on my own helped most to reinforce the syntax and grammar of graphics we went over during the workshop”</a:t>
            </a:r>
          </a:p>
        </p:txBody>
      </p:sp>
      <p:pic>
        <p:nvPicPr>
          <p:cNvPr id="13" name="Picture 12">
            <a:extLst>
              <a:ext uri="{FF2B5EF4-FFF2-40B4-BE49-F238E27FC236}">
                <a16:creationId xmlns:a16="http://schemas.microsoft.com/office/drawing/2014/main" id="{60F12F8F-A2A0-605A-FD57-814C52C4444E}"/>
              </a:ext>
              <a:ext uri="{C183D7F6-B498-43B3-948B-1728B52AA6E4}">
                <adec:decorative xmlns:adec="http://schemas.microsoft.com/office/drawing/2017/decorative" val="1"/>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3849828" y="2906751"/>
            <a:ext cx="2246172" cy="2047875"/>
          </a:xfrm>
          <a:prstGeom prst="rect">
            <a:avLst/>
          </a:prstGeom>
        </p:spPr>
      </p:pic>
    </p:spTree>
    <p:extLst>
      <p:ext uri="{BB962C8B-B14F-4D97-AF65-F5344CB8AC3E}">
        <p14:creationId xmlns:p14="http://schemas.microsoft.com/office/powerpoint/2010/main" val="24825431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4E424-DB59-F0C7-D9D0-A49D62DE73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58E8FE-9B5B-502C-A72D-6E61FA77D059}"/>
              </a:ext>
            </a:extLst>
          </p:cNvPr>
          <p:cNvSpPr>
            <a:spLocks noGrp="1"/>
          </p:cNvSpPr>
          <p:nvPr>
            <p:ph type="title"/>
          </p:nvPr>
        </p:nvSpPr>
        <p:spPr>
          <a:xfrm>
            <a:off x="838200" y="365126"/>
            <a:ext cx="10515600" cy="861744"/>
          </a:xfrm>
        </p:spPr>
        <p:txBody>
          <a:bodyPr/>
          <a:lstStyle/>
          <a:p>
            <a:r>
              <a:rPr lang="en-US" b="1" dirty="0"/>
              <a:t>Learner Reflections</a:t>
            </a:r>
            <a:r>
              <a:rPr lang="en-US" dirty="0"/>
              <a:t>: Excited to Try Next</a:t>
            </a:r>
          </a:p>
        </p:txBody>
      </p:sp>
      <p:sp>
        <p:nvSpPr>
          <p:cNvPr id="7" name="TextBox 6">
            <a:extLst>
              <a:ext uri="{FF2B5EF4-FFF2-40B4-BE49-F238E27FC236}">
                <a16:creationId xmlns:a16="http://schemas.microsoft.com/office/drawing/2014/main" id="{0FDE44DE-6E2A-88EB-5BEF-761B05AF2099}"/>
              </a:ext>
            </a:extLst>
          </p:cNvPr>
          <p:cNvSpPr txBox="1"/>
          <p:nvPr/>
        </p:nvSpPr>
        <p:spPr>
          <a:xfrm>
            <a:off x="374074" y="1288672"/>
            <a:ext cx="5133108" cy="1569660"/>
          </a:xfrm>
          <a:prstGeom prst="rect">
            <a:avLst/>
          </a:prstGeom>
          <a:noFill/>
        </p:spPr>
        <p:txBody>
          <a:bodyPr wrap="square">
            <a:spAutoFit/>
          </a:bodyPr>
          <a:lstStyle/>
          <a:p>
            <a:r>
              <a:rPr lang="en-US" sz="2400"/>
              <a:t>“I am interested in learning how to automate parts of the analysis process and improve my efficiency when working with data in R.”</a:t>
            </a:r>
          </a:p>
        </p:txBody>
      </p:sp>
      <p:sp>
        <p:nvSpPr>
          <p:cNvPr id="5" name="TextBox 4">
            <a:extLst>
              <a:ext uri="{FF2B5EF4-FFF2-40B4-BE49-F238E27FC236}">
                <a16:creationId xmlns:a16="http://schemas.microsoft.com/office/drawing/2014/main" id="{DAE733B7-F11C-8FA9-6D1F-F20F6AAB7376}"/>
              </a:ext>
            </a:extLst>
          </p:cNvPr>
          <p:cNvSpPr txBox="1"/>
          <p:nvPr/>
        </p:nvSpPr>
        <p:spPr>
          <a:xfrm>
            <a:off x="6276109" y="1153590"/>
            <a:ext cx="4871603" cy="1938992"/>
          </a:xfrm>
          <a:prstGeom prst="rect">
            <a:avLst/>
          </a:prstGeom>
          <a:noFill/>
        </p:spPr>
        <p:txBody>
          <a:bodyPr wrap="square">
            <a:spAutoFit/>
          </a:bodyPr>
          <a:lstStyle/>
          <a:p>
            <a:r>
              <a:rPr lang="en-US" sz="2400"/>
              <a:t>“I am most excited to try working with my own dataset in R next, maybe with creating graphs and plots in this controlled environment rather than in Excel.”</a:t>
            </a:r>
          </a:p>
        </p:txBody>
      </p:sp>
      <p:sp>
        <p:nvSpPr>
          <p:cNvPr id="11" name="TextBox 10">
            <a:extLst>
              <a:ext uri="{FF2B5EF4-FFF2-40B4-BE49-F238E27FC236}">
                <a16:creationId xmlns:a16="http://schemas.microsoft.com/office/drawing/2014/main" id="{80DE51E2-592E-1468-C84B-087EF0C4D645}"/>
              </a:ext>
            </a:extLst>
          </p:cNvPr>
          <p:cNvSpPr txBox="1"/>
          <p:nvPr/>
        </p:nvSpPr>
        <p:spPr>
          <a:xfrm>
            <a:off x="711778" y="3016154"/>
            <a:ext cx="4234295" cy="2308324"/>
          </a:xfrm>
          <a:prstGeom prst="rect">
            <a:avLst/>
          </a:prstGeom>
          <a:noFill/>
        </p:spPr>
        <p:txBody>
          <a:bodyPr wrap="square">
            <a:spAutoFit/>
          </a:bodyPr>
          <a:lstStyle/>
          <a:p>
            <a:r>
              <a:rPr lang="en-US" sz="2400" dirty="0"/>
              <a:t>“I think I am most excited to use this information to start analyzing my own data sets. I plan on using R next time I run a study and definitely to make my next graph.”</a:t>
            </a:r>
          </a:p>
        </p:txBody>
      </p:sp>
      <p:sp>
        <p:nvSpPr>
          <p:cNvPr id="15" name="TextBox 14">
            <a:extLst>
              <a:ext uri="{FF2B5EF4-FFF2-40B4-BE49-F238E27FC236}">
                <a16:creationId xmlns:a16="http://schemas.microsoft.com/office/drawing/2014/main" id="{68F780F5-5441-FAD4-BEFA-808766A12C39}"/>
              </a:ext>
            </a:extLst>
          </p:cNvPr>
          <p:cNvSpPr txBox="1"/>
          <p:nvPr/>
        </p:nvSpPr>
        <p:spPr>
          <a:xfrm>
            <a:off x="7716432" y="3352111"/>
            <a:ext cx="4197928" cy="1569660"/>
          </a:xfrm>
          <a:prstGeom prst="rect">
            <a:avLst/>
          </a:prstGeom>
          <a:noFill/>
        </p:spPr>
        <p:txBody>
          <a:bodyPr wrap="square">
            <a:spAutoFit/>
          </a:bodyPr>
          <a:lstStyle/>
          <a:p>
            <a:r>
              <a:rPr lang="en-US" sz="2400" dirty="0"/>
              <a:t>“I’m most excited to try making more advanced graphs and learning how to customize them more in </a:t>
            </a:r>
            <a:r>
              <a:rPr lang="en-US" sz="2400" dirty="0" err="1"/>
              <a:t>ggplot</a:t>
            </a:r>
            <a:r>
              <a:rPr lang="en-US" sz="2400" dirty="0"/>
              <a:t>.”</a:t>
            </a:r>
          </a:p>
        </p:txBody>
      </p:sp>
      <p:sp>
        <p:nvSpPr>
          <p:cNvPr id="13" name="TextBox 12">
            <a:extLst>
              <a:ext uri="{FF2B5EF4-FFF2-40B4-BE49-F238E27FC236}">
                <a16:creationId xmlns:a16="http://schemas.microsoft.com/office/drawing/2014/main" id="{4573306A-F7A0-B906-E17F-64D337A1B07A}"/>
              </a:ext>
            </a:extLst>
          </p:cNvPr>
          <p:cNvSpPr txBox="1"/>
          <p:nvPr/>
        </p:nvSpPr>
        <p:spPr>
          <a:xfrm>
            <a:off x="322119" y="5482301"/>
            <a:ext cx="5309754" cy="1200329"/>
          </a:xfrm>
          <a:prstGeom prst="rect">
            <a:avLst/>
          </a:prstGeom>
          <a:noFill/>
        </p:spPr>
        <p:txBody>
          <a:bodyPr wrap="square">
            <a:spAutoFit/>
          </a:bodyPr>
          <a:lstStyle/>
          <a:p>
            <a:r>
              <a:rPr lang="en-US" sz="2400"/>
              <a:t>“I’m most excited to try some data analysis in R for future classes. Also, it would be fun to make graphs in R.”</a:t>
            </a:r>
          </a:p>
        </p:txBody>
      </p:sp>
      <p:sp>
        <p:nvSpPr>
          <p:cNvPr id="9" name="TextBox 8">
            <a:extLst>
              <a:ext uri="{FF2B5EF4-FFF2-40B4-BE49-F238E27FC236}">
                <a16:creationId xmlns:a16="http://schemas.microsoft.com/office/drawing/2014/main" id="{EE184925-7C27-B3C6-2770-60C492A9ADDF}"/>
              </a:ext>
            </a:extLst>
          </p:cNvPr>
          <p:cNvSpPr txBox="1"/>
          <p:nvPr/>
        </p:nvSpPr>
        <p:spPr>
          <a:xfrm>
            <a:off x="5788529" y="5181300"/>
            <a:ext cx="6010708" cy="1569660"/>
          </a:xfrm>
          <a:prstGeom prst="rect">
            <a:avLst/>
          </a:prstGeom>
          <a:noFill/>
        </p:spPr>
        <p:txBody>
          <a:bodyPr wrap="square">
            <a:spAutoFit/>
          </a:bodyPr>
          <a:lstStyle/>
          <a:p>
            <a:r>
              <a:rPr lang="en-US" sz="2400" dirty="0"/>
              <a:t>“I think I am most excited to continue implementing custom graphs.  I want to use R to perform statistics on data and then make customized graphs out of that data.”</a:t>
            </a:r>
          </a:p>
        </p:txBody>
      </p:sp>
      <p:pic>
        <p:nvPicPr>
          <p:cNvPr id="6" name="Picture 5">
            <a:extLst>
              <a:ext uri="{FF2B5EF4-FFF2-40B4-BE49-F238E27FC236}">
                <a16:creationId xmlns:a16="http://schemas.microsoft.com/office/drawing/2014/main" id="{C5B2B5AF-A119-D3BA-FA8E-FDCA689C48C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7102" y="2663536"/>
            <a:ext cx="2660942" cy="2660942"/>
          </a:xfrm>
          <a:prstGeom prst="rect">
            <a:avLst/>
          </a:prstGeom>
        </p:spPr>
      </p:pic>
    </p:spTree>
    <p:extLst>
      <p:ext uri="{BB962C8B-B14F-4D97-AF65-F5344CB8AC3E}">
        <p14:creationId xmlns:p14="http://schemas.microsoft.com/office/powerpoint/2010/main" val="29704004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6FFD3-69A0-8B95-9187-3158E8252A41}"/>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A3A3121-7979-617D-93F3-8B34CB12BD6D}"/>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8" name="Rectangle 7">
            <a:extLst>
              <a:ext uri="{FF2B5EF4-FFF2-40B4-BE49-F238E27FC236}">
                <a16:creationId xmlns:a16="http://schemas.microsoft.com/office/drawing/2014/main" id="{7E133FFA-B6BA-E762-1434-699011DCC7CF}"/>
              </a:ext>
              <a:ext uri="{C183D7F6-B498-43B3-948B-1728B52AA6E4}">
                <adec:decorative xmlns:adec="http://schemas.microsoft.com/office/drawing/2017/decorative" val="1"/>
              </a:ext>
            </a:extLst>
          </p:cNvPr>
          <p:cNvSpPr/>
          <p:nvPr/>
        </p:nvSpPr>
        <p:spPr>
          <a:xfrm>
            <a:off x="0" y="4125184"/>
            <a:ext cx="12192000" cy="1787237"/>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itle 3">
            <a:extLst>
              <a:ext uri="{FF2B5EF4-FFF2-40B4-BE49-F238E27FC236}">
                <a16:creationId xmlns:a16="http://schemas.microsoft.com/office/drawing/2014/main" id="{66E62DEB-AB7D-1C59-FD09-A885B087C304}"/>
              </a:ext>
            </a:extLst>
          </p:cNvPr>
          <p:cNvSpPr>
            <a:spLocks noGrp="1"/>
          </p:cNvSpPr>
          <p:nvPr>
            <p:ph type="title"/>
          </p:nvPr>
        </p:nvSpPr>
        <p:spPr>
          <a:xfrm>
            <a:off x="831850" y="2333186"/>
            <a:ext cx="10515600" cy="2852737"/>
          </a:xfrm>
        </p:spPr>
        <p:txBody>
          <a:bodyPr/>
          <a:lstStyle/>
          <a:p>
            <a:r>
              <a:rPr lang="en-US" dirty="0">
                <a:solidFill>
                  <a:schemeClr val="bg1"/>
                </a:solidFill>
              </a:rPr>
              <a:t>Final Thoughts</a:t>
            </a:r>
          </a:p>
        </p:txBody>
      </p:sp>
      <p:sp>
        <p:nvSpPr>
          <p:cNvPr id="5" name="Text Placeholder 4">
            <a:extLst>
              <a:ext uri="{FF2B5EF4-FFF2-40B4-BE49-F238E27FC236}">
                <a16:creationId xmlns:a16="http://schemas.microsoft.com/office/drawing/2014/main" id="{1485C7E7-76D2-B590-36C3-7B1E0982EDCF}"/>
              </a:ext>
            </a:extLst>
          </p:cNvPr>
          <p:cNvSpPr>
            <a:spLocks noGrp="1"/>
          </p:cNvSpPr>
          <p:nvPr>
            <p:ph type="body" idx="1"/>
          </p:nvPr>
        </p:nvSpPr>
        <p:spPr>
          <a:xfrm>
            <a:off x="831849" y="5212911"/>
            <a:ext cx="11237191" cy="1500187"/>
          </a:xfrm>
        </p:spPr>
        <p:txBody>
          <a:bodyPr>
            <a:normAutofit/>
          </a:bodyPr>
          <a:lstStyle/>
          <a:p>
            <a:r>
              <a:rPr lang="en-US" sz="3200" dirty="0">
                <a:solidFill>
                  <a:schemeClr val="bg1"/>
                </a:solidFill>
              </a:rPr>
              <a:t>Challenges and Perspectives</a:t>
            </a:r>
          </a:p>
        </p:txBody>
      </p:sp>
    </p:spTree>
    <p:extLst>
      <p:ext uri="{BB962C8B-B14F-4D97-AF65-F5344CB8AC3E}">
        <p14:creationId xmlns:p14="http://schemas.microsoft.com/office/powerpoint/2010/main" val="19311811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8440C-FC90-DE37-B7A7-75E013A7A008}"/>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0D043EA-7B7C-820A-934F-231F12640CF0}"/>
              </a:ext>
              <a:ext uri="{C183D7F6-B498-43B3-948B-1728B52AA6E4}">
                <adec:decorative xmlns:adec="http://schemas.microsoft.com/office/drawing/2017/decorative" val="1"/>
              </a:ext>
            </a:extLst>
          </p:cNvPr>
          <p:cNvCxnSpPr>
            <a:cxnSpLocks/>
          </p:cNvCxnSpPr>
          <p:nvPr/>
        </p:nvCxnSpPr>
        <p:spPr>
          <a:xfrm>
            <a:off x="0" y="1555930"/>
            <a:ext cx="8937523"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D14328E8-3190-5FD4-FDDE-0C3B7E66CB74}"/>
              </a:ext>
            </a:extLst>
          </p:cNvPr>
          <p:cNvSpPr>
            <a:spLocks noGrp="1"/>
          </p:cNvSpPr>
          <p:nvPr>
            <p:ph type="title"/>
          </p:nvPr>
        </p:nvSpPr>
        <p:spPr>
          <a:xfrm>
            <a:off x="838200" y="250031"/>
            <a:ext cx="6460114" cy="1325563"/>
          </a:xfrm>
        </p:spPr>
        <p:txBody>
          <a:bodyPr>
            <a:normAutofit/>
          </a:bodyPr>
          <a:lstStyle/>
          <a:p>
            <a:r>
              <a:rPr lang="en-US" sz="3900" b="1" dirty="0"/>
              <a:t>Our Challenges </a:t>
            </a:r>
            <a:r>
              <a:rPr lang="en-US" sz="3900" dirty="0"/>
              <a:t>with </a:t>
            </a:r>
            <a:br>
              <a:rPr lang="en-US" sz="3900" dirty="0"/>
            </a:br>
            <a:r>
              <a:rPr lang="en-US" sz="3900" dirty="0"/>
              <a:t>Micro-Credential Integration</a:t>
            </a:r>
          </a:p>
        </p:txBody>
      </p:sp>
      <p:sp>
        <p:nvSpPr>
          <p:cNvPr id="3" name="Content Placeholder 2">
            <a:extLst>
              <a:ext uri="{FF2B5EF4-FFF2-40B4-BE49-F238E27FC236}">
                <a16:creationId xmlns:a16="http://schemas.microsoft.com/office/drawing/2014/main" id="{45093338-4479-638F-B0A6-9976D395A5DC}"/>
              </a:ext>
            </a:extLst>
          </p:cNvPr>
          <p:cNvSpPr>
            <a:spLocks noGrp="1"/>
          </p:cNvSpPr>
          <p:nvPr>
            <p:ph idx="1"/>
          </p:nvPr>
        </p:nvSpPr>
        <p:spPr>
          <a:xfrm>
            <a:off x="451445" y="1825625"/>
            <a:ext cx="6756751" cy="4782344"/>
          </a:xfrm>
        </p:spPr>
        <p:txBody>
          <a:bodyPr>
            <a:normAutofit/>
          </a:bodyPr>
          <a:lstStyle/>
          <a:p>
            <a:pPr>
              <a:spcAft>
                <a:spcPts val="1200"/>
              </a:spcAft>
            </a:pPr>
            <a:r>
              <a:rPr lang="en-US" dirty="0"/>
              <a:t>Did not account for accommodations for in-person absences</a:t>
            </a:r>
          </a:p>
          <a:p>
            <a:pPr lvl="1"/>
            <a:r>
              <a:rPr lang="en-US" dirty="0"/>
              <a:t>Enabling online participation</a:t>
            </a:r>
          </a:p>
          <a:p>
            <a:pPr lvl="1">
              <a:spcAft>
                <a:spcPts val="1200"/>
              </a:spcAft>
            </a:pPr>
            <a:r>
              <a:rPr lang="en-US" dirty="0"/>
              <a:t>Requesting submission of coding scripts for that session’s content</a:t>
            </a:r>
          </a:p>
          <a:p>
            <a:pPr>
              <a:spcAft>
                <a:spcPts val="1200"/>
              </a:spcAft>
            </a:pPr>
            <a:r>
              <a:rPr lang="en-US" dirty="0"/>
              <a:t>Met with accessibility challenges when trying to provide practice problems</a:t>
            </a:r>
          </a:p>
          <a:p>
            <a:pPr lvl="1"/>
            <a:r>
              <a:rPr lang="en-US" dirty="0"/>
              <a:t>Limitations with exporting PDF files containing images tagged with alt text</a:t>
            </a:r>
          </a:p>
          <a:p>
            <a:pPr lvl="1">
              <a:spcAft>
                <a:spcPts val="1200"/>
              </a:spcAft>
            </a:pPr>
            <a:r>
              <a:rPr lang="en-US" dirty="0"/>
              <a:t>HTML export from R Markdown worked much better in this regard</a:t>
            </a:r>
          </a:p>
        </p:txBody>
      </p:sp>
      <p:pic>
        <p:nvPicPr>
          <p:cNvPr id="5" name="Picture 4" descr="Close-up of stacked books">
            <a:extLst>
              <a:ext uri="{FF2B5EF4-FFF2-40B4-BE49-F238E27FC236}">
                <a16:creationId xmlns:a16="http://schemas.microsoft.com/office/drawing/2014/main" id="{8A1475DB-0435-983B-CDDF-1C19B2CC4323}"/>
              </a:ext>
            </a:extLst>
          </p:cNvPr>
          <p:cNvPicPr>
            <a:picLocks noChangeAspect="1"/>
          </p:cNvPicPr>
          <p:nvPr/>
        </p:nvPicPr>
        <p:blipFill>
          <a:blip r:embed="rId3" cstate="screen">
            <a:alphaModFix amt="64000"/>
            <a:extLst>
              <a:ext uri="{28A0092B-C50C-407E-A947-70E740481C1C}">
                <a14:useLocalDpi xmlns:a14="http://schemas.microsoft.com/office/drawing/2010/main"/>
              </a:ext>
            </a:extLst>
          </a:blip>
          <a:srcRect/>
          <a:stretch>
            <a:fillRect/>
          </a:stretch>
        </p:blipFill>
        <p:spPr>
          <a:xfrm>
            <a:off x="7208196" y="0"/>
            <a:ext cx="4983804" cy="6858000"/>
          </a:xfrm>
          <a:prstGeom prst="rect">
            <a:avLst/>
          </a:prstGeom>
        </p:spPr>
      </p:pic>
    </p:spTree>
    <p:extLst>
      <p:ext uri="{BB962C8B-B14F-4D97-AF65-F5344CB8AC3E}">
        <p14:creationId xmlns:p14="http://schemas.microsoft.com/office/powerpoint/2010/main" val="1162660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C7010D96-0792-F590-E972-0A63FC269DDF}"/>
              </a:ext>
              <a:ext uri="{C183D7F6-B498-43B3-948B-1728B52AA6E4}">
                <adec:decorative xmlns:adec="http://schemas.microsoft.com/office/drawing/2017/decorative" val="1"/>
              </a:ext>
            </a:extLst>
          </p:cNvPr>
          <p:cNvCxnSpPr>
            <a:cxnSpLocks/>
          </p:cNvCxnSpPr>
          <p:nvPr/>
        </p:nvCxnSpPr>
        <p:spPr>
          <a:xfrm>
            <a:off x="0" y="1555930"/>
            <a:ext cx="8937523"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44B9E553-E79B-833E-C15D-70E644817C7C}"/>
              </a:ext>
            </a:extLst>
          </p:cNvPr>
          <p:cNvSpPr>
            <a:spLocks noGrp="1"/>
          </p:cNvSpPr>
          <p:nvPr>
            <p:ph type="title"/>
          </p:nvPr>
        </p:nvSpPr>
        <p:spPr>
          <a:xfrm>
            <a:off x="838200" y="250031"/>
            <a:ext cx="6460114" cy="1325563"/>
          </a:xfrm>
        </p:spPr>
        <p:txBody>
          <a:bodyPr>
            <a:normAutofit/>
          </a:bodyPr>
          <a:lstStyle/>
          <a:p>
            <a:r>
              <a:rPr lang="en-US" sz="3900" b="1" dirty="0"/>
              <a:t>Our Perspectives</a:t>
            </a:r>
            <a:r>
              <a:rPr lang="en-US" sz="3900" dirty="0"/>
              <a:t> on </a:t>
            </a:r>
            <a:br>
              <a:rPr lang="en-US" sz="3900" dirty="0"/>
            </a:br>
            <a:r>
              <a:rPr lang="en-US" sz="3900" dirty="0"/>
              <a:t>Micro-Credential Integration</a:t>
            </a:r>
          </a:p>
        </p:txBody>
      </p:sp>
      <p:sp>
        <p:nvSpPr>
          <p:cNvPr id="3" name="Content Placeholder 2">
            <a:extLst>
              <a:ext uri="{FF2B5EF4-FFF2-40B4-BE49-F238E27FC236}">
                <a16:creationId xmlns:a16="http://schemas.microsoft.com/office/drawing/2014/main" id="{26C4B949-5AE7-44F9-EC47-8E214CF85F8C}"/>
              </a:ext>
            </a:extLst>
          </p:cNvPr>
          <p:cNvSpPr>
            <a:spLocks noGrp="1"/>
          </p:cNvSpPr>
          <p:nvPr>
            <p:ph idx="1"/>
          </p:nvPr>
        </p:nvSpPr>
        <p:spPr>
          <a:xfrm>
            <a:off x="451445" y="1825625"/>
            <a:ext cx="6460115" cy="4782344"/>
          </a:xfrm>
        </p:spPr>
        <p:txBody>
          <a:bodyPr>
            <a:normAutofit lnSpcReduction="10000"/>
          </a:bodyPr>
          <a:lstStyle/>
          <a:p>
            <a:pPr>
              <a:spcAft>
                <a:spcPts val="1200"/>
              </a:spcAft>
            </a:pPr>
            <a:r>
              <a:rPr lang="en-US" dirty="0"/>
              <a:t>Attendance remained strong throughout series when we piloted the micro-credential</a:t>
            </a:r>
          </a:p>
          <a:p>
            <a:pPr>
              <a:spcAft>
                <a:spcPts val="1200"/>
              </a:spcAft>
            </a:pPr>
            <a:r>
              <a:rPr lang="en-US" dirty="0"/>
              <a:t>Micro-credential assessment pieces provided an avenue for learner engagement outside of workshop sessions</a:t>
            </a:r>
          </a:p>
          <a:p>
            <a:pPr>
              <a:spcAft>
                <a:spcPts val="1200"/>
              </a:spcAft>
            </a:pPr>
            <a:r>
              <a:rPr lang="en-US" dirty="0"/>
              <a:t>Learners who completed the first micro-credential assignment seemed to maintain that engagement throughout the series and obtain the micro-credential</a:t>
            </a:r>
          </a:p>
        </p:txBody>
      </p:sp>
      <p:pic>
        <p:nvPicPr>
          <p:cNvPr id="5" name="Picture 4" descr="Close-up of stacked books">
            <a:extLst>
              <a:ext uri="{FF2B5EF4-FFF2-40B4-BE49-F238E27FC236}">
                <a16:creationId xmlns:a16="http://schemas.microsoft.com/office/drawing/2014/main" id="{5C29A352-22F2-95BE-ED6A-624589DCDB52}"/>
              </a:ext>
            </a:extLst>
          </p:cNvPr>
          <p:cNvPicPr>
            <a:picLocks noChangeAspect="1"/>
          </p:cNvPicPr>
          <p:nvPr/>
        </p:nvPicPr>
        <p:blipFill>
          <a:blip r:embed="rId3" cstate="screen">
            <a:alphaModFix amt="64000"/>
            <a:extLst>
              <a:ext uri="{28A0092B-C50C-407E-A947-70E740481C1C}">
                <a14:useLocalDpi xmlns:a14="http://schemas.microsoft.com/office/drawing/2010/main"/>
              </a:ext>
            </a:extLst>
          </a:blip>
          <a:srcRect/>
          <a:stretch>
            <a:fillRect/>
          </a:stretch>
        </p:blipFill>
        <p:spPr>
          <a:xfrm>
            <a:off x="7208196" y="0"/>
            <a:ext cx="4983804" cy="6858000"/>
          </a:xfrm>
          <a:prstGeom prst="rect">
            <a:avLst/>
          </a:prstGeom>
        </p:spPr>
      </p:pic>
    </p:spTree>
    <p:extLst>
      <p:ext uri="{BB962C8B-B14F-4D97-AF65-F5344CB8AC3E}">
        <p14:creationId xmlns:p14="http://schemas.microsoft.com/office/powerpoint/2010/main" val="37420025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E4E01-EF19-88DB-1D2E-9FD630DECCAF}"/>
              </a:ext>
            </a:extLst>
          </p:cNvPr>
          <p:cNvSpPr>
            <a:spLocks noGrp="1"/>
          </p:cNvSpPr>
          <p:nvPr>
            <p:ph type="title"/>
          </p:nvPr>
        </p:nvSpPr>
        <p:spPr/>
        <p:txBody>
          <a:bodyPr/>
          <a:lstStyle/>
          <a:p>
            <a:r>
              <a:rPr lang="en-US" dirty="0"/>
              <a:t>Acknowledgments</a:t>
            </a:r>
          </a:p>
        </p:txBody>
      </p:sp>
      <p:sp>
        <p:nvSpPr>
          <p:cNvPr id="3" name="Content Placeholder 2">
            <a:extLst>
              <a:ext uri="{FF2B5EF4-FFF2-40B4-BE49-F238E27FC236}">
                <a16:creationId xmlns:a16="http://schemas.microsoft.com/office/drawing/2014/main" id="{0D2D50AC-10E5-CF73-FC2F-38CCBF5A822D}"/>
              </a:ext>
            </a:extLst>
          </p:cNvPr>
          <p:cNvSpPr>
            <a:spLocks noGrp="1"/>
          </p:cNvSpPr>
          <p:nvPr>
            <p:ph sz="half" idx="1"/>
          </p:nvPr>
        </p:nvSpPr>
        <p:spPr>
          <a:xfrm>
            <a:off x="400050" y="1973683"/>
            <a:ext cx="5850082" cy="4673882"/>
          </a:xfrm>
        </p:spPr>
        <p:txBody>
          <a:bodyPr>
            <a:normAutofit lnSpcReduction="10000"/>
          </a:bodyPr>
          <a:lstStyle/>
          <a:p>
            <a:r>
              <a:rPr lang="en-US" b="1" dirty="0"/>
              <a:t>UCO Carpentries Committee</a:t>
            </a:r>
          </a:p>
          <a:p>
            <a:pPr lvl="1"/>
            <a:r>
              <a:rPr lang="en-US" dirty="0"/>
              <a:t>Nicole Sump-Crethar</a:t>
            </a:r>
          </a:p>
          <a:p>
            <a:pPr lvl="1"/>
            <a:r>
              <a:rPr lang="en-US" dirty="0"/>
              <a:t>Karl Siewert</a:t>
            </a:r>
          </a:p>
          <a:p>
            <a:pPr lvl="1"/>
            <a:r>
              <a:rPr lang="en-US" dirty="0"/>
              <a:t>Ryan Maher, </a:t>
            </a:r>
            <a:r>
              <a:rPr lang="en-US" i="1" dirty="0"/>
              <a:t>Buddy</a:t>
            </a:r>
          </a:p>
          <a:p>
            <a:pPr lvl="1"/>
            <a:r>
              <a:rPr lang="en-US" dirty="0"/>
              <a:t>Casey Lowry</a:t>
            </a:r>
          </a:p>
          <a:p>
            <a:pPr lvl="1"/>
            <a:r>
              <a:rPr lang="en-US" dirty="0"/>
              <a:t>Juliet </a:t>
            </a:r>
            <a:r>
              <a:rPr lang="en-US" dirty="0" err="1"/>
              <a:t>Alavicheh</a:t>
            </a:r>
            <a:endParaRPr lang="en-US" dirty="0"/>
          </a:p>
          <a:p>
            <a:pPr lvl="1"/>
            <a:r>
              <a:rPr lang="en-US" dirty="0"/>
              <a:t>Stephanie Loria</a:t>
            </a:r>
          </a:p>
          <a:p>
            <a:pPr lvl="1"/>
            <a:r>
              <a:rPr lang="en-US" dirty="0"/>
              <a:t>Jesse Kern</a:t>
            </a:r>
          </a:p>
          <a:p>
            <a:r>
              <a:rPr lang="en-US" b="1" dirty="0"/>
              <a:t>LX Studio</a:t>
            </a:r>
          </a:p>
          <a:p>
            <a:pPr lvl="1"/>
            <a:r>
              <a:rPr lang="en-US" dirty="0"/>
              <a:t>Cami Cooper</a:t>
            </a:r>
          </a:p>
          <a:p>
            <a:pPr lvl="1"/>
            <a:r>
              <a:rPr lang="en-US" dirty="0"/>
              <a:t>Alyssa Provencio-</a:t>
            </a:r>
            <a:r>
              <a:rPr lang="en-US" dirty="0" err="1"/>
              <a:t>Ciszewicz</a:t>
            </a:r>
            <a:r>
              <a:rPr lang="en-US" dirty="0"/>
              <a:t> </a:t>
            </a:r>
          </a:p>
          <a:p>
            <a:pPr lvl="1"/>
            <a:r>
              <a:rPr lang="en-US" dirty="0"/>
              <a:t>Trevor Cox</a:t>
            </a:r>
          </a:p>
        </p:txBody>
      </p:sp>
      <p:sp>
        <p:nvSpPr>
          <p:cNvPr id="4" name="Content Placeholder 3">
            <a:extLst>
              <a:ext uri="{FF2B5EF4-FFF2-40B4-BE49-F238E27FC236}">
                <a16:creationId xmlns:a16="http://schemas.microsoft.com/office/drawing/2014/main" id="{27449521-1DD3-D257-A522-754D9C68B4D2}"/>
              </a:ext>
            </a:extLst>
          </p:cNvPr>
          <p:cNvSpPr>
            <a:spLocks noGrp="1"/>
          </p:cNvSpPr>
          <p:nvPr>
            <p:ph sz="half" idx="2"/>
          </p:nvPr>
        </p:nvSpPr>
        <p:spPr>
          <a:xfrm>
            <a:off x="6172199" y="1985711"/>
            <a:ext cx="5569527" cy="4191251"/>
          </a:xfrm>
        </p:spPr>
        <p:txBody>
          <a:bodyPr>
            <a:normAutofit lnSpcReduction="10000"/>
          </a:bodyPr>
          <a:lstStyle/>
          <a:p>
            <a:r>
              <a:rPr lang="en-US" b="1" dirty="0"/>
              <a:t>R and RStudio workshop co-instructors and helpers </a:t>
            </a:r>
          </a:p>
          <a:p>
            <a:pPr lvl="1"/>
            <a:r>
              <a:rPr lang="en-US" dirty="0"/>
              <a:t>Simon Ringsmuth, </a:t>
            </a:r>
            <a:r>
              <a:rPr lang="en-US" i="1" dirty="0"/>
              <a:t>co-instructor</a:t>
            </a:r>
          </a:p>
          <a:p>
            <a:pPr lvl="1"/>
            <a:r>
              <a:rPr lang="en-US" dirty="0" err="1"/>
              <a:t>Nguvan</a:t>
            </a:r>
            <a:r>
              <a:rPr lang="en-US" dirty="0"/>
              <a:t> </a:t>
            </a:r>
            <a:r>
              <a:rPr lang="en-US" dirty="0" err="1"/>
              <a:t>Agaigbe</a:t>
            </a:r>
            <a:r>
              <a:rPr lang="en-US" dirty="0"/>
              <a:t>, </a:t>
            </a:r>
            <a:r>
              <a:rPr lang="en-US" i="1" dirty="0"/>
              <a:t>co-instructor</a:t>
            </a:r>
          </a:p>
          <a:p>
            <a:pPr lvl="1"/>
            <a:r>
              <a:rPr lang="en-US" dirty="0"/>
              <a:t>Rebekah Silverstein, </a:t>
            </a:r>
            <a:r>
              <a:rPr lang="en-US" i="1" dirty="0"/>
              <a:t>co-instructor</a:t>
            </a:r>
            <a:endParaRPr lang="en-US" dirty="0"/>
          </a:p>
          <a:p>
            <a:pPr lvl="1"/>
            <a:r>
              <a:rPr lang="en-US" dirty="0"/>
              <a:t>Evan Linde, </a:t>
            </a:r>
            <a:r>
              <a:rPr lang="en-US" i="1" dirty="0"/>
              <a:t>TIGER</a:t>
            </a:r>
          </a:p>
          <a:p>
            <a:pPr lvl="1"/>
            <a:r>
              <a:rPr lang="en-US" dirty="0"/>
              <a:t>Jess Warre</a:t>
            </a:r>
          </a:p>
          <a:p>
            <a:pPr lvl="1"/>
            <a:r>
              <a:rPr lang="en-US" dirty="0"/>
              <a:t>Cameron Cardona</a:t>
            </a:r>
          </a:p>
          <a:p>
            <a:pPr lvl="1"/>
            <a:r>
              <a:rPr lang="en-US" dirty="0"/>
              <a:t>Daniel Raudabaugh</a:t>
            </a:r>
          </a:p>
          <a:p>
            <a:endParaRPr lang="en-US" dirty="0"/>
          </a:p>
        </p:txBody>
      </p:sp>
      <p:grpSp>
        <p:nvGrpSpPr>
          <p:cNvPr id="15" name="Group 14" descr="Logo for University of Central Oklahoma with text below for the Center for Research and Education in Interdisciplinary Computation.">
            <a:extLst>
              <a:ext uri="{FF2B5EF4-FFF2-40B4-BE49-F238E27FC236}">
                <a16:creationId xmlns:a16="http://schemas.microsoft.com/office/drawing/2014/main" id="{9BCBF939-2F64-78B9-F523-D9BC7ABE0CC7}"/>
              </a:ext>
            </a:extLst>
          </p:cNvPr>
          <p:cNvGrpSpPr/>
          <p:nvPr/>
        </p:nvGrpSpPr>
        <p:grpSpPr>
          <a:xfrm>
            <a:off x="5806756" y="210435"/>
            <a:ext cx="2901428" cy="1368425"/>
            <a:chOff x="8609308" y="230188"/>
            <a:chExt cx="2901428" cy="1368425"/>
          </a:xfrm>
        </p:grpSpPr>
        <p:sp>
          <p:nvSpPr>
            <p:cNvPr id="14" name="Rectangle: Rounded Corners 13">
              <a:extLst>
                <a:ext uri="{FF2B5EF4-FFF2-40B4-BE49-F238E27FC236}">
                  <a16:creationId xmlns:a16="http://schemas.microsoft.com/office/drawing/2014/main" id="{57E094D1-9E9B-EDA9-B3A6-A9E35CE00B64}"/>
                </a:ext>
                <a:ext uri="{C183D7F6-B498-43B3-948B-1728B52AA6E4}">
                  <adec:decorative xmlns:adec="http://schemas.microsoft.com/office/drawing/2017/decorative" val="1"/>
                </a:ext>
              </a:extLst>
            </p:cNvPr>
            <p:cNvSpPr/>
            <p:nvPr/>
          </p:nvSpPr>
          <p:spPr>
            <a:xfrm>
              <a:off x="8609308" y="230188"/>
              <a:ext cx="2901428" cy="1368425"/>
            </a:xfrm>
            <a:prstGeom prst="roundRect">
              <a:avLst/>
            </a:prstGeom>
            <a:solidFill>
              <a:srgbClr val="002D6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3CB95CC0-2B15-3FDF-207C-5BA758DEB6E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766243" y="300587"/>
              <a:ext cx="2587557" cy="1209126"/>
            </a:xfrm>
            <a:prstGeom prst="rect">
              <a:avLst/>
            </a:prstGeom>
          </p:spPr>
        </p:pic>
      </p:grpSp>
      <p:pic>
        <p:nvPicPr>
          <p:cNvPr id="9" name="Picture 8" descr="Logo for the TIGER supercomputer at Oklahoma State University">
            <a:extLst>
              <a:ext uri="{FF2B5EF4-FFF2-40B4-BE49-F238E27FC236}">
                <a16:creationId xmlns:a16="http://schemas.microsoft.com/office/drawing/2014/main" id="{0BAAAD7C-B401-9B93-6AD8-2D69284B194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103907" y="150226"/>
            <a:ext cx="2589179" cy="1625033"/>
          </a:xfrm>
          <a:prstGeom prst="rect">
            <a:avLst/>
          </a:prstGeom>
        </p:spPr>
      </p:pic>
      <p:pic>
        <p:nvPicPr>
          <p:cNvPr id="11" name="Picture 10" descr="Logo for Oklahoma State University">
            <a:extLst>
              <a:ext uri="{FF2B5EF4-FFF2-40B4-BE49-F238E27FC236}">
                <a16:creationId xmlns:a16="http://schemas.microsoft.com/office/drawing/2014/main" id="{4906CFFB-CC9F-661A-0385-7192D4695853}"/>
              </a:ext>
            </a:extLst>
          </p:cNvPr>
          <p:cNvPicPr>
            <a:picLocks noChangeAspect="1"/>
          </p:cNvPicPr>
          <p:nvPr/>
        </p:nvPicPr>
        <p:blipFill>
          <a:blip r:embed="rId5" cstate="screen">
            <a:extLst>
              <a:ext uri="{28A0092B-C50C-407E-A947-70E740481C1C}">
                <a14:useLocalDpi xmlns:a14="http://schemas.microsoft.com/office/drawing/2010/main"/>
              </a:ext>
            </a:extLst>
          </a:blip>
          <a:srcRect/>
          <a:stretch>
            <a:fillRect/>
          </a:stretch>
        </p:blipFill>
        <p:spPr>
          <a:xfrm>
            <a:off x="11162427" y="154672"/>
            <a:ext cx="1019845" cy="477548"/>
          </a:xfrm>
          <a:prstGeom prst="rect">
            <a:avLst/>
          </a:prstGeom>
        </p:spPr>
      </p:pic>
      <p:grpSp>
        <p:nvGrpSpPr>
          <p:cNvPr id="20" name="Group 19" descr="Logo for LX Studio at the University of Central Oklahoma.">
            <a:extLst>
              <a:ext uri="{FF2B5EF4-FFF2-40B4-BE49-F238E27FC236}">
                <a16:creationId xmlns:a16="http://schemas.microsoft.com/office/drawing/2014/main" id="{D58AB69D-E010-6688-79E6-EADAC086D23C}"/>
              </a:ext>
            </a:extLst>
          </p:cNvPr>
          <p:cNvGrpSpPr/>
          <p:nvPr/>
        </p:nvGrpSpPr>
        <p:grpSpPr>
          <a:xfrm>
            <a:off x="5692359" y="5328894"/>
            <a:ext cx="2464503" cy="1004162"/>
            <a:chOff x="6643990" y="5346917"/>
            <a:chExt cx="2864896" cy="1162118"/>
          </a:xfrm>
        </p:grpSpPr>
        <p:sp>
          <p:nvSpPr>
            <p:cNvPr id="18" name="Rectangle 17">
              <a:extLst>
                <a:ext uri="{FF2B5EF4-FFF2-40B4-BE49-F238E27FC236}">
                  <a16:creationId xmlns:a16="http://schemas.microsoft.com/office/drawing/2014/main" id="{560855D1-3ED0-9AEB-9ADF-20D31A79ACAD}"/>
                </a:ext>
              </a:extLst>
            </p:cNvPr>
            <p:cNvSpPr>
              <a:spLocks/>
            </p:cNvSpPr>
            <p:nvPr/>
          </p:nvSpPr>
          <p:spPr>
            <a:xfrm>
              <a:off x="6643990" y="5368104"/>
              <a:ext cx="2864895" cy="1140931"/>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7E5AB87B-6025-7E7A-1712-69DF412B7F5A}"/>
                </a:ext>
              </a:extLst>
            </p:cNvPr>
            <p:cNvPicPr>
              <a:picLocks noChangeAspect="1"/>
            </p:cNvPicPr>
            <p:nvPr/>
          </p:nvPicPr>
          <p:blipFill>
            <a:blip r:embed="rId6"/>
            <a:stretch>
              <a:fillRect/>
            </a:stretch>
          </p:blipFill>
          <p:spPr>
            <a:xfrm>
              <a:off x="6643991" y="5346917"/>
              <a:ext cx="2864895" cy="1145958"/>
            </a:xfrm>
            <a:prstGeom prst="rect">
              <a:avLst/>
            </a:prstGeom>
          </p:spPr>
        </p:pic>
      </p:grpSp>
      <p:pic>
        <p:nvPicPr>
          <p:cNvPr id="22" name="Google Shape;126;p22" descr="The Carpentries Logo">
            <a:extLst>
              <a:ext uri="{FF2B5EF4-FFF2-40B4-BE49-F238E27FC236}">
                <a16:creationId xmlns:a16="http://schemas.microsoft.com/office/drawing/2014/main" id="{A230E71B-A914-9F2A-44F9-87DE82434088}"/>
              </a:ext>
              <a:ext uri="{C183D7F6-B498-43B3-948B-1728B52AA6E4}">
                <adec:decorative xmlns:adec="http://schemas.microsoft.com/office/drawing/2017/decorative" val="0"/>
              </a:ext>
            </a:extLst>
          </p:cNvPr>
          <p:cNvPicPr preferRelativeResize="0">
            <a:picLocks noChangeAspect="1"/>
          </p:cNvPicPr>
          <p:nvPr/>
        </p:nvPicPr>
        <p:blipFill>
          <a:blip r:embed="rId7">
            <a:alphaModFix/>
          </a:blip>
          <a:stretch>
            <a:fillRect/>
          </a:stretch>
        </p:blipFill>
        <p:spPr>
          <a:xfrm>
            <a:off x="8636700" y="5504969"/>
            <a:ext cx="3155203" cy="638048"/>
          </a:xfrm>
          <a:prstGeom prst="rect">
            <a:avLst/>
          </a:prstGeom>
          <a:noFill/>
          <a:ln>
            <a:noFill/>
          </a:ln>
        </p:spPr>
      </p:pic>
    </p:spTree>
    <p:extLst>
      <p:ext uri="{BB962C8B-B14F-4D97-AF65-F5344CB8AC3E}">
        <p14:creationId xmlns:p14="http://schemas.microsoft.com/office/powerpoint/2010/main" val="25886252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itle 4">
            <a:extLst>
              <a:ext uri="{FF2B5EF4-FFF2-40B4-BE49-F238E27FC236}">
                <a16:creationId xmlns:a16="http://schemas.microsoft.com/office/drawing/2014/main" id="{97D5C491-C79A-389B-94AF-4B29FE878513}"/>
              </a:ext>
            </a:extLst>
          </p:cNvPr>
          <p:cNvSpPr>
            <a:spLocks noGrp="1"/>
          </p:cNvSpPr>
          <p:nvPr>
            <p:ph type="title"/>
          </p:nvPr>
        </p:nvSpPr>
        <p:spPr>
          <a:xfrm>
            <a:off x="795528" y="386930"/>
            <a:ext cx="10141799" cy="1300554"/>
          </a:xfrm>
        </p:spPr>
        <p:txBody>
          <a:bodyPr vert="horz" lIns="91440" tIns="45720" rIns="91440" bIns="45720" rtlCol="0" anchor="b">
            <a:normAutofit/>
          </a:bodyPr>
          <a:lstStyle/>
          <a:p>
            <a:r>
              <a:rPr lang="en-US" sz="4800" kern="1200" dirty="0">
                <a:solidFill>
                  <a:schemeClr val="tx1"/>
                </a:solidFill>
                <a:latin typeface="+mj-lt"/>
                <a:ea typeface="+mj-ea"/>
                <a:cs typeface="+mj-cs"/>
              </a:rPr>
              <a:t>Thank you! Any questions?</a:t>
            </a:r>
          </a:p>
        </p:txBody>
      </p:sp>
      <p:sp>
        <p:nvSpPr>
          <p:cNvPr id="12" name="Rectangle 11">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 name="Picture 6" descr="QR code with a pixelated dinosaur icon centered. When scanned with camera directs you to the GitHub repository with all the micro-credential files.">
            <a:extLst>
              <a:ext uri="{FF2B5EF4-FFF2-40B4-BE49-F238E27FC236}">
                <a16:creationId xmlns:a16="http://schemas.microsoft.com/office/drawing/2014/main" id="{6E0B6AAF-A4DF-1A88-48DB-6647EFE3CE2F}"/>
              </a:ext>
            </a:extLst>
          </p:cNvPr>
          <p:cNvPicPr>
            <a:picLocks noChangeAspect="1"/>
          </p:cNvPicPr>
          <p:nvPr/>
        </p:nvPicPr>
        <p:blipFill>
          <a:blip r:embed="rId3" cstate="screen">
            <a:extLst>
              <a:ext uri="{28A0092B-C50C-407E-A947-70E740481C1C}">
                <a14:useLocalDpi xmlns:a14="http://schemas.microsoft.com/office/drawing/2010/main"/>
              </a:ext>
            </a:extLst>
          </a:blip>
          <a:srcRect/>
          <a:stretch>
            <a:fillRect/>
          </a:stretch>
        </p:blipFill>
        <p:spPr>
          <a:xfrm>
            <a:off x="456056" y="2230187"/>
            <a:ext cx="3516284" cy="3336253"/>
          </a:xfrm>
          <a:prstGeom prst="rect">
            <a:avLst/>
          </a:prstGeom>
        </p:spPr>
      </p:pic>
      <p:sp>
        <p:nvSpPr>
          <p:cNvPr id="9" name="TextBox 8">
            <a:extLst>
              <a:ext uri="{FF2B5EF4-FFF2-40B4-BE49-F238E27FC236}">
                <a16:creationId xmlns:a16="http://schemas.microsoft.com/office/drawing/2014/main" id="{0230041D-CB57-A0DA-C5F1-DBF7AFF0E245}"/>
              </a:ext>
            </a:extLst>
          </p:cNvPr>
          <p:cNvSpPr txBox="1"/>
          <p:nvPr/>
        </p:nvSpPr>
        <p:spPr>
          <a:xfrm>
            <a:off x="680069" y="5227451"/>
            <a:ext cx="3109120" cy="400110"/>
          </a:xfrm>
          <a:prstGeom prst="rect">
            <a:avLst/>
          </a:prstGeom>
          <a:noFill/>
        </p:spPr>
        <p:txBody>
          <a:bodyPr wrap="none" rtlCol="0">
            <a:spAutoFit/>
          </a:bodyPr>
          <a:lstStyle/>
          <a:p>
            <a:pPr lvl="0" algn="ctr"/>
            <a:r>
              <a:rPr lang="en-US" sz="2000" dirty="0">
                <a:solidFill>
                  <a:prstClr val="black"/>
                </a:solidFill>
                <a:hlinkClick r:id="rId4"/>
              </a:rPr>
              <a:t>tinyurl.com/sedls26-micro</a:t>
            </a:r>
            <a:endParaRPr kumimoji="0" lang="en-US" sz="20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pic>
        <p:nvPicPr>
          <p:cNvPr id="3" name="Content Placeholder 2" descr="A photograph features Boromir from Lord of the Rings making a hand gesture, with bold white text above and below him. The text states, &quot;ONE DOES NOT SIMPLY SAY THANK YOU WITHOUT A MEME.&quot;">
            <a:extLst>
              <a:ext uri="{FF2B5EF4-FFF2-40B4-BE49-F238E27FC236}">
                <a16:creationId xmlns:a16="http://schemas.microsoft.com/office/drawing/2014/main" id="{D6F93FA5-B0AC-860A-3FB3-A7F0A9ED49EF}"/>
              </a:ext>
            </a:extLst>
          </p:cNvPr>
          <p:cNvPicPr>
            <a:picLocks noGrp="1" noChangeAspect="1"/>
          </p:cNvPicPr>
          <p:nvPr>
            <p:ph idx="4294967295"/>
          </p:nvPr>
        </p:nvPicPr>
        <p:blipFill>
          <a:blip r:embed="rId5"/>
          <a:stretch>
            <a:fillRect/>
          </a:stretch>
        </p:blipFill>
        <p:spPr>
          <a:xfrm>
            <a:off x="4469258" y="2201612"/>
            <a:ext cx="6914104" cy="4269458"/>
          </a:xfrm>
          <a:prstGeom prst="rect">
            <a:avLst/>
          </a:prstGeom>
        </p:spPr>
      </p:pic>
      <p:sp>
        <p:nvSpPr>
          <p:cNvPr id="16" name="Rectangle 15">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extBox 1">
            <a:extLst>
              <a:ext uri="{FF2B5EF4-FFF2-40B4-BE49-F238E27FC236}">
                <a16:creationId xmlns:a16="http://schemas.microsoft.com/office/drawing/2014/main" id="{D59E4958-EB29-D383-939B-B2FB870AB475}"/>
              </a:ext>
            </a:extLst>
          </p:cNvPr>
          <p:cNvSpPr txBox="1"/>
          <p:nvPr/>
        </p:nvSpPr>
        <p:spPr>
          <a:xfrm>
            <a:off x="79668" y="5664812"/>
            <a:ext cx="4309921" cy="707886"/>
          </a:xfrm>
          <a:prstGeom prst="rect">
            <a:avLst/>
          </a:prstGeom>
          <a:noFill/>
        </p:spPr>
        <p:txBody>
          <a:bodyPr wrap="square" rtlCol="0">
            <a:spAutoFit/>
          </a:bodyPr>
          <a:lstStyle/>
          <a:p>
            <a:pPr algn="ctr"/>
            <a:r>
              <a:rPr lang="en-US" sz="2000" b="1" dirty="0"/>
              <a:t>Access GitHub repository with micro-credential materials &amp; slides</a:t>
            </a:r>
          </a:p>
        </p:txBody>
      </p:sp>
    </p:spTree>
    <p:extLst>
      <p:ext uri="{BB962C8B-B14F-4D97-AF65-F5344CB8AC3E}">
        <p14:creationId xmlns:p14="http://schemas.microsoft.com/office/powerpoint/2010/main" val="39859172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1402</TotalTime>
  <Words>1893</Words>
  <Application>Microsoft Office PowerPoint</Application>
  <PresentationFormat>Widescreen</PresentationFormat>
  <Paragraphs>222</Paragraphs>
  <Slides>28</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Aptos</vt:lpstr>
      <vt:lpstr>Aptos Display</vt:lpstr>
      <vt:lpstr>Arial</vt:lpstr>
      <vt:lpstr>Calibri</vt:lpstr>
      <vt:lpstr>Courier New</vt:lpstr>
      <vt:lpstr>Office Theme</vt:lpstr>
      <vt:lpstr>Improving Information Retention and Learner Self-Efficacy through a Coding Workshop Micro-credential</vt:lpstr>
      <vt:lpstr>Who Are We?</vt:lpstr>
      <vt:lpstr>Our Instructional Context</vt:lpstr>
      <vt:lpstr>Global, non-profit organization</vt:lpstr>
      <vt:lpstr>The Carpentries develops &amp; maintains free,  openly-available lessons</vt:lpstr>
      <vt:lpstr>Learn by Doing</vt:lpstr>
      <vt:lpstr>Local Carpentries Community</vt:lpstr>
      <vt:lpstr>Identifying an Opportunity</vt:lpstr>
      <vt:lpstr>What challenges were we confronting?</vt:lpstr>
      <vt:lpstr>Why a micro-credential?</vt:lpstr>
      <vt:lpstr>Creating the Micro-Credential</vt:lpstr>
      <vt:lpstr>R Markdown as the Tool</vt:lpstr>
      <vt:lpstr>Our reservations and considerations</vt:lpstr>
      <vt:lpstr>A Brief AI Interlude:  Initial Concerns</vt:lpstr>
      <vt:lpstr>A Brief AI Interlude:  AI and Assessment</vt:lpstr>
      <vt:lpstr>Outcomes: Learner Workload</vt:lpstr>
      <vt:lpstr>Example: Week 1 Practice Problems &amp; Reflections</vt:lpstr>
      <vt:lpstr>Outcomes: Instructor Workload</vt:lpstr>
      <vt:lpstr>Example: Week 1 Answer Key</vt:lpstr>
      <vt:lpstr>Outcomes: Micro-Credential Impact </vt:lpstr>
      <vt:lpstr>Learner Reflections: Most Challenging</vt:lpstr>
      <vt:lpstr>Learner Reflections: Most Rewarding</vt:lpstr>
      <vt:lpstr>Learner Reflections: Excited to Try Next</vt:lpstr>
      <vt:lpstr>Final Thoughts</vt:lpstr>
      <vt:lpstr>Our Challenges with  Micro-Credential Integration</vt:lpstr>
      <vt:lpstr>Our Perspectives on  Micro-Credential Integration</vt:lpstr>
      <vt:lpstr>Acknowledgments</vt:lpstr>
      <vt:lpstr>Thank you! Any questions?</vt:lpstr>
    </vt:vector>
  </TitlesOfParts>
  <Company>Oklahoma State University, Edmon Low Library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SEDLS 2026 - Kirsch and Agan Presentation</dc:title>
  <dc:creator>Kirsch, Dani</dc:creator>
  <cp:lastModifiedBy>Kirsch, Dani</cp:lastModifiedBy>
  <cp:revision>1</cp:revision>
  <dcterms:created xsi:type="dcterms:W3CDTF">2026-10-05T19:29:25Z</dcterms:created>
  <dcterms:modified xsi:type="dcterms:W3CDTF">2026-10-12T21:39:34Z</dcterms:modified>
</cp:coreProperties>
</file>